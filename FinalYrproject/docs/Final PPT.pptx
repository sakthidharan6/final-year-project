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9" r:id="rId15"/>
    <p:sldId id="270" r:id="rId16"/>
    <p:sldId id="268" r:id="rId17"/>
    <p:sldId id="271" r:id="rId18"/>
    <p:sldId id="272" r:id="rId19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E79F69-F938-4C4C-88DE-CD4F368C93B7}" v="19" dt="2026-02-19T13:49:20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sakthidharan2005@outlook.com" userId="ea2e4098e3f79123" providerId="LiveId" clId="{6F86F70E-2BE3-44F3-93E3-59AA5A7A527D}"/>
    <pc:docChg chg="undo custSel delSld modSld">
      <pc:chgData name="ssakthidharan2005@outlook.com" userId="ea2e4098e3f79123" providerId="LiveId" clId="{6F86F70E-2BE3-44F3-93E3-59AA5A7A527D}" dt="2026-02-19T13:49:20.528" v="54"/>
      <pc:docMkLst>
        <pc:docMk/>
      </pc:docMkLst>
      <pc:sldChg chg="addSp modSp mod">
        <pc:chgData name="ssakthidharan2005@outlook.com" userId="ea2e4098e3f79123" providerId="LiveId" clId="{6F86F70E-2BE3-44F3-93E3-59AA5A7A527D}" dt="2026-02-19T13:44:46.010" v="22"/>
        <pc:sldMkLst>
          <pc:docMk/>
          <pc:sldMk cId="0" sldId="262"/>
        </pc:sldMkLst>
        <pc:spChg chg="add">
          <ac:chgData name="ssakthidharan2005@outlook.com" userId="ea2e4098e3f79123" providerId="LiveId" clId="{6F86F70E-2BE3-44F3-93E3-59AA5A7A527D}" dt="2026-02-19T13:44:25.867" v="19"/>
          <ac:spMkLst>
            <pc:docMk/>
            <pc:sldMk cId="0" sldId="262"/>
            <ac:spMk id="2" creationId="{1EFEC140-8AD0-7C68-2E6D-C0826279AD18}"/>
          </ac:spMkLst>
        </pc:spChg>
        <pc:spChg chg="mod">
          <ac:chgData name="ssakthidharan2005@outlook.com" userId="ea2e4098e3f79123" providerId="LiveId" clId="{6F86F70E-2BE3-44F3-93E3-59AA5A7A527D}" dt="2026-02-19T13:44:46.010" v="22"/>
          <ac:spMkLst>
            <pc:docMk/>
            <pc:sldMk cId="0" sldId="262"/>
            <ac:spMk id="3" creationId="{86F8F6FA-B0D9-3099-D0D8-0D701B4E6C82}"/>
          </ac:spMkLst>
        </pc:spChg>
      </pc:sldChg>
      <pc:sldChg chg="modSp mod">
        <pc:chgData name="ssakthidharan2005@outlook.com" userId="ea2e4098e3f79123" providerId="LiveId" clId="{6F86F70E-2BE3-44F3-93E3-59AA5A7A527D}" dt="2026-02-19T13:46:10.692" v="38" actId="27636"/>
        <pc:sldMkLst>
          <pc:docMk/>
          <pc:sldMk cId="0" sldId="263"/>
        </pc:sldMkLst>
        <pc:spChg chg="mod">
          <ac:chgData name="ssakthidharan2005@outlook.com" userId="ea2e4098e3f79123" providerId="LiveId" clId="{6F86F70E-2BE3-44F3-93E3-59AA5A7A527D}" dt="2026-02-19T13:46:10.692" v="38" actId="27636"/>
          <ac:spMkLst>
            <pc:docMk/>
            <pc:sldMk cId="0" sldId="263"/>
            <ac:spMk id="188" creationId="{00000000-0000-0000-0000-000000000000}"/>
          </ac:spMkLst>
        </pc:spChg>
      </pc:sldChg>
      <pc:sldChg chg="modSp mod">
        <pc:chgData name="ssakthidharan2005@outlook.com" userId="ea2e4098e3f79123" providerId="LiveId" clId="{6F86F70E-2BE3-44F3-93E3-59AA5A7A527D}" dt="2026-02-19T13:47:25.306" v="47"/>
        <pc:sldMkLst>
          <pc:docMk/>
          <pc:sldMk cId="0" sldId="264"/>
        </pc:sldMkLst>
        <pc:spChg chg="mod">
          <ac:chgData name="ssakthidharan2005@outlook.com" userId="ea2e4098e3f79123" providerId="LiveId" clId="{6F86F70E-2BE3-44F3-93E3-59AA5A7A527D}" dt="2026-02-19T13:47:25.306" v="47"/>
          <ac:spMkLst>
            <pc:docMk/>
            <pc:sldMk cId="0" sldId="264"/>
            <ac:spMk id="3" creationId="{CC11241C-79EC-7F8F-62C6-17BDC71D4DEF}"/>
          </ac:spMkLst>
        </pc:spChg>
      </pc:sldChg>
      <pc:sldChg chg="modSp mod">
        <pc:chgData name="ssakthidharan2005@outlook.com" userId="ea2e4098e3f79123" providerId="LiveId" clId="{6F86F70E-2BE3-44F3-93E3-59AA5A7A527D}" dt="2026-02-19T13:48:41.388" v="53" actId="12"/>
        <pc:sldMkLst>
          <pc:docMk/>
          <pc:sldMk cId="0" sldId="265"/>
        </pc:sldMkLst>
        <pc:spChg chg="mod">
          <ac:chgData name="ssakthidharan2005@outlook.com" userId="ea2e4098e3f79123" providerId="LiveId" clId="{6F86F70E-2BE3-44F3-93E3-59AA5A7A527D}" dt="2026-02-19T13:48:41.388" v="53" actId="12"/>
          <ac:spMkLst>
            <pc:docMk/>
            <pc:sldMk cId="0" sldId="265"/>
            <ac:spMk id="204" creationId="{00000000-0000-0000-0000-000000000000}"/>
          </ac:spMkLst>
        </pc:spChg>
      </pc:sldChg>
      <pc:sldChg chg="modSp">
        <pc:chgData name="ssakthidharan2005@outlook.com" userId="ea2e4098e3f79123" providerId="LiveId" clId="{6F86F70E-2BE3-44F3-93E3-59AA5A7A527D}" dt="2026-02-19T13:49:20.528" v="54"/>
        <pc:sldMkLst>
          <pc:docMk/>
          <pc:sldMk cId="0" sldId="266"/>
        </pc:sldMkLst>
        <pc:spChg chg="mod">
          <ac:chgData name="ssakthidharan2005@outlook.com" userId="ea2e4098e3f79123" providerId="LiveId" clId="{6F86F70E-2BE3-44F3-93E3-59AA5A7A527D}" dt="2026-02-19T13:49:20.528" v="54"/>
          <ac:spMkLst>
            <pc:docMk/>
            <pc:sldMk cId="0" sldId="266"/>
            <ac:spMk id="213" creationId="{00000000-0000-0000-0000-000000000000}"/>
          </ac:spMkLst>
        </pc:spChg>
      </pc:sldChg>
      <pc:sldChg chg="del">
        <pc:chgData name="ssakthidharan2005@outlook.com" userId="ea2e4098e3f79123" providerId="LiveId" clId="{6F86F70E-2BE3-44F3-93E3-59AA5A7A527D}" dt="2026-02-19T13:48:05.657" v="48" actId="2696"/>
        <pc:sldMkLst>
          <pc:docMk/>
          <pc:sldMk cId="3593005124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49932218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b49932218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b49932218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ab49932218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b49932218_4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ab49932218_4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b49932218_4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ab49932218_4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b49932218_2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ab49932218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b49932218_4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ab49932218_4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b49932218_4_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ab49932218_4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b49932218_2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ab49932218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b49932218_2_1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ab49932218_2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b49932218_2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ab49932218_2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b49932218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ab49932218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2238ecd55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92238ecd5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2238ecd55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92238ecd5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49932218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ab49932218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b49932218_2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3ab49932218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b49932218_2_1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3ab49932218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2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title"/>
          </p:nvPr>
        </p:nvSpPr>
        <p:spPr>
          <a:xfrm>
            <a:off x="609600" y="1028021"/>
            <a:ext cx="8229600" cy="130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GB" sz="2800" b="1" dirty="0">
                <a:solidFill>
                  <a:schemeClr val="dk2"/>
                </a:solidFill>
              </a:rPr>
              <a:t>Lead </a:t>
            </a:r>
            <a:r>
              <a:rPr lang="en-GB" sz="2800" b="1" dirty="0" err="1">
                <a:solidFill>
                  <a:schemeClr val="dk2"/>
                </a:solidFill>
              </a:rPr>
              <a:t>HeatScore</a:t>
            </a:r>
            <a:r>
              <a:rPr lang="en-GB" sz="2800" b="1" dirty="0">
                <a:solidFill>
                  <a:schemeClr val="dk2"/>
                </a:solidFill>
              </a:rPr>
              <a:t> – An AI + RAG </a:t>
            </a:r>
            <a:r>
              <a:rPr lang="en-GB" sz="2800" b="1">
                <a:solidFill>
                  <a:schemeClr val="dk2"/>
                </a:solidFill>
              </a:rPr>
              <a:t>Lead System</a:t>
            </a:r>
            <a:endParaRPr sz="2800" b="1" dirty="0">
              <a:solidFill>
                <a:schemeClr val="dk2"/>
              </a:solidFill>
            </a:endParaRPr>
          </a:p>
        </p:txBody>
      </p:sp>
      <p:sp>
        <p:nvSpPr>
          <p:cNvPr id="130" name="Google Shape;130;p25"/>
          <p:cNvSpPr txBox="1">
            <a:spLocks noGrp="1"/>
          </p:cNvSpPr>
          <p:nvPr>
            <p:ph type="body" idx="1"/>
          </p:nvPr>
        </p:nvSpPr>
        <p:spPr>
          <a:xfrm>
            <a:off x="869375" y="2883875"/>
            <a:ext cx="30753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b="1"/>
              <a:t>Project Guide: 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Dr.D.Rosy Salomi Victoria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M.E.,Ph.D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b="1"/>
              <a:t>Designation:</a:t>
            </a:r>
            <a:endParaRPr b="1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/>
              <a:t>Professor</a:t>
            </a:r>
            <a:endParaRPr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800" b="1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1" name="Google Shape;131;p25"/>
          <p:cNvSpPr txBox="1">
            <a:spLocks noGrp="1"/>
          </p:cNvSpPr>
          <p:nvPr>
            <p:ph type="body" idx="2"/>
          </p:nvPr>
        </p:nvSpPr>
        <p:spPr>
          <a:xfrm>
            <a:off x="4233325" y="2883875"/>
            <a:ext cx="51153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b="1" dirty="0"/>
              <a:t>Name:</a:t>
            </a:r>
            <a:r>
              <a:rPr lang="en-GB" dirty="0"/>
              <a:t> SAKTHIDHARAN S(22IT091),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dirty="0"/>
              <a:t> PHORVESHRAJ A(22IT072)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b="1" dirty="0"/>
              <a:t>Year:</a:t>
            </a:r>
            <a:r>
              <a:rPr lang="en-GB" dirty="0"/>
              <a:t> IV year</a:t>
            </a:r>
            <a:endParaRPr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GB" b="1" dirty="0"/>
              <a:t>Department: </a:t>
            </a:r>
            <a:r>
              <a:rPr lang="en-GB" dirty="0"/>
              <a:t>Information Technology</a:t>
            </a:r>
            <a:endParaRPr dirty="0"/>
          </a:p>
        </p:txBody>
      </p:sp>
      <p:sp>
        <p:nvSpPr>
          <p:cNvPr id="132" name="Google Shape;132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287" y="34493"/>
            <a:ext cx="3627755" cy="5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>
            <a:spLocks noGrp="1"/>
          </p:cNvSpPr>
          <p:nvPr>
            <p:ph type="title"/>
          </p:nvPr>
        </p:nvSpPr>
        <p:spPr>
          <a:xfrm>
            <a:off x="413657" y="698813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mbria"/>
              <a:buNone/>
            </a:pPr>
            <a:r>
              <a:rPr lang="en-GB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/>
          </a:p>
        </p:txBody>
      </p: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327064" y="1298054"/>
            <a:ext cx="8229600" cy="4814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</a:pPr>
            <a:r>
              <a:rPr lang="en-GB" sz="2380" b="1" dirty="0"/>
              <a:t>Background of the research:</a:t>
            </a:r>
            <a:endParaRPr sz="238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Financial markets have become highly complex due to globalization, digitalization, financial innovation, and the growing participation of institutional and retail investors.</a:t>
            </a:r>
          </a:p>
          <a:p>
            <a:r>
              <a:rPr lang="en-US" sz="1400" dirty="0"/>
              <a:t>Stock price movements exhibit nonlinear and irregular patterns, making traditional linear statistical models less effective for accurate forecasting.</a:t>
            </a:r>
          </a:p>
          <a:p>
            <a:r>
              <a:rPr lang="en-US" sz="1400" dirty="0"/>
              <a:t>Rapid information dissemination, geopolitical events, and macroeconomic uncertainties have significantly increased market volatility and unpredictability.</a:t>
            </a:r>
          </a:p>
          <a:p>
            <a:r>
              <a:rPr lang="en-US" sz="1400" dirty="0"/>
              <a:t>Economic events in one country quickly influence international markets, increasing cross-border risk transmission and forecasting challenges.</a:t>
            </a:r>
          </a:p>
          <a:p>
            <a:r>
              <a:rPr lang="en-US" sz="1400" dirty="0"/>
              <a:t>Algorithmic trading, high-frequency trading (HFT), and AI-driven automated systems have accelerated trading speed and volume, improving efficiency but also introducing systemic risks.</a:t>
            </a:r>
            <a:endParaRPr sz="2380" dirty="0"/>
          </a:p>
        </p:txBody>
      </p:sp>
      <p:sp>
        <p:nvSpPr>
          <p:cNvPr id="140" name="Google Shape;140;p2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84" y="34493"/>
            <a:ext cx="3775113" cy="56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>
            <a:spLocks noGrp="1"/>
          </p:cNvSpPr>
          <p:nvPr>
            <p:ph type="title"/>
          </p:nvPr>
        </p:nvSpPr>
        <p:spPr>
          <a:xfrm>
            <a:off x="142406" y="966866"/>
            <a:ext cx="7871263" cy="509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>
              <a:buClr>
                <a:schemeClr val="dk2"/>
              </a:buClr>
              <a:buSzPct val="100000"/>
            </a:pPr>
            <a:r>
              <a:rPr lang="en-GB" sz="2700" b="1" dirty="0">
                <a:latin typeface="Arial"/>
                <a:ea typeface="Arial"/>
                <a:cs typeface="Arial"/>
                <a:sym typeface="Arial"/>
              </a:rPr>
              <a:t>Research Problem Statement</a:t>
            </a:r>
            <a:br>
              <a:rPr lang="en-GB" b="1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48" name="Google Shape;148;p2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dirty="0"/>
          </a:p>
        </p:txBody>
      </p:sp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84" y="34493"/>
            <a:ext cx="3775114" cy="5670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64434-CB01-55D1-B9D5-A22C6CBD6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5621" y="1492317"/>
            <a:ext cx="687754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200" dirty="0">
                <a:latin typeface="+mn-lt"/>
              </a:rPr>
              <a:t>Develop a </a:t>
            </a:r>
            <a:r>
              <a:rPr lang="en-US" sz="1200" dirty="0">
                <a:latin typeface="+mn-lt"/>
              </a:rPr>
              <a:t>deep learning–based system for accurate stock price forecasting using historical time-series data.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sz="1200" dirty="0">
                <a:latin typeface="+mn-lt"/>
              </a:rPr>
              <a:t>ddress nonlinear patterns, volatility, and noise while handling large-scale, real-time financial datasets efficiently.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200" dirty="0">
                <a:latin typeface="+mn-lt"/>
              </a:rPr>
              <a:t>Integrate advanced models (LSTM, GRU, hybrid architectures) with techniques to reduce overfitting and improve generalization.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>
                <a:latin typeface="+mn-lt"/>
              </a:rPr>
              <a:t>Incorporate model interpretability and provide risk analysis indicators such as volatility, confidence intervals, and trend strength.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200" dirty="0">
                <a:latin typeface="+mn-lt"/>
              </a:rPr>
              <a:t>Design an interactive dashboard to visualize historical data, predictions, performance metrics, and dynamic comparison scenarios.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364225" y="446654"/>
            <a:ext cx="8229600" cy="63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mbria"/>
              <a:buNone/>
            </a:pPr>
            <a:r>
              <a:rPr lang="en-GB" sz="2200" b="1" dirty="0">
                <a:latin typeface="Arial"/>
                <a:ea typeface="Arial"/>
                <a:cs typeface="Arial"/>
                <a:sym typeface="Arial"/>
              </a:rPr>
              <a:t>                        Motivation and Significance</a:t>
            </a:r>
            <a:endParaRPr dirty="0"/>
          </a:p>
        </p:txBody>
      </p:sp>
      <p:sp>
        <p:nvSpPr>
          <p:cNvPr id="155" name="Google Shape;155;p28"/>
          <p:cNvSpPr txBox="1">
            <a:spLocks noGrp="1"/>
          </p:cNvSpPr>
          <p:nvPr>
            <p:ph type="body" idx="1"/>
          </p:nvPr>
        </p:nvSpPr>
        <p:spPr>
          <a:xfrm>
            <a:off x="34875" y="1146516"/>
            <a:ext cx="8150120" cy="399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</a:pPr>
            <a:r>
              <a:rPr lang="en-GB" sz="2380" b="1" dirty="0"/>
              <a:t>Motivation:</a:t>
            </a:r>
            <a:endParaRPr sz="2380" b="1" dirty="0"/>
          </a:p>
          <a:p>
            <a:pPr marL="0" lvl="0" indent="0" algn="l" rtl="0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</a:pPr>
            <a:r>
              <a:rPr lang="en-IN" sz="2380" b="1" dirty="0"/>
              <a:t> </a:t>
            </a:r>
            <a:endParaRPr sz="2380" b="1" dirty="0"/>
          </a:p>
        </p:txBody>
      </p:sp>
      <p:sp>
        <p:nvSpPr>
          <p:cNvPr id="156" name="Google Shape;156;p2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t>4</a:t>
            </a:fld>
            <a:endParaRPr/>
          </a:p>
        </p:txBody>
      </p:sp>
      <p:pic>
        <p:nvPicPr>
          <p:cNvPr id="8" name="Google Shape;149;p27">
            <a:extLst>
              <a:ext uri="{FF2B5EF4-FFF2-40B4-BE49-F238E27FC236}">
                <a16:creationId xmlns:a16="http://schemas.microsoft.com/office/drawing/2014/main" id="{C3E61A78-A656-A9BC-AD58-16C0C54043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84" y="34493"/>
            <a:ext cx="3775114" cy="56707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0C5EA6-3185-3C20-A5E8-6B1D229678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00" y="1932619"/>
            <a:ext cx="7893395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dirty="0"/>
              <a:t>Analyze historical stock price data to identify hidden trends, seasonal patterns, and nonlinear relationships in financial markets.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Apply deep learning techniques, particularly a CNN–LSTM hybrid model, to capture complex spatial and temporal dependencies in time-series data.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Improve prediction accuracy by addressing volatility, noise, and irregular fluctuations in dynamic market environments.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Develop a robust AI-driven framework capable of handling large-scale, high-dimensional financial datasets efficiently.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Advances </a:t>
            </a:r>
            <a:r>
              <a:rPr lang="en-US" sz="1600" dirty="0"/>
              <a:t>Provide a reliable data-driven forecasting system that supports smarter investment decisions and bridges theoretical research with practical financial applications.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457200" y="691058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GB" b="1">
                <a:solidFill>
                  <a:schemeClr val="dk2"/>
                </a:solidFill>
              </a:rPr>
              <a:t>Literature Review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48750" y="879231"/>
            <a:ext cx="8229600" cy="48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GB" sz="2380" b="1" dirty="0"/>
              <a:t>Overview of Existing Works:</a:t>
            </a:r>
          </a:p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endParaRPr sz="1979" dirty="0"/>
          </a:p>
        </p:txBody>
      </p:sp>
      <p:sp>
        <p:nvSpPr>
          <p:cNvPr id="165" name="Google Shape;165;p2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6AAB9B1-BAEF-AC44-A561-F461BD18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200" y="1918753"/>
            <a:ext cx="7707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Numerous research studies have applied machine learning and deep learning techniques for stock market forecasting.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Early prediction models were primarily based on traditional statistical and rule-based approaches.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Technical indicators such as Moving Averages (MA), RSI, and MACD were widely used to analyze historical price trends.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These conventional models mainly focused on linear relationships and struggled to capture complex nonlinear market patterns or adapt to dynamic conditions.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Due to inconsistent accuracy during high volatility periods, there arose a need for more advanced machine learning and deep learning–based forecasting models.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312750" y="753158"/>
            <a:ext cx="8229600" cy="4614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rPr lang="en-GB" sz="2380" b="1" dirty="0"/>
              <a:t>Research Gap Identification:</a:t>
            </a:r>
            <a:endParaRPr sz="1979" dirty="0"/>
          </a:p>
          <a:p>
            <a:pPr marL="0" lvl="0" indent="0">
              <a:lnSpc>
                <a:spcPct val="80000"/>
              </a:lnSpc>
              <a:spcBef>
                <a:spcPts val="1200"/>
              </a:spcBef>
              <a:buSzPts val="1520"/>
              <a:buFont typeface="Arial" pitchFamily="34" charset="0"/>
              <a:buChar char="•"/>
            </a:pPr>
            <a:endParaRPr sz="1979" dirty="0"/>
          </a:p>
        </p:txBody>
      </p:sp>
      <p:sp>
        <p:nvSpPr>
          <p:cNvPr id="173" name="Google Shape;173;p3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5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3503734-57B4-A748-88AC-B5825F56A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596" y="1640282"/>
            <a:ext cx="859882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Most existing AI-based trading systems function as black-box models, lacking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Interpretability and reducing transparency and user trust.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</a:t>
            </a:r>
            <a:r>
              <a:rPr lang="en-US" sz="1600" dirty="0"/>
              <a:t>Current visualization dashboards are often static and do not provide interactive,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exploratory, or customizable analytical features.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Many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systems fail to include advanced analytical insights such as confidence levels,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uncertainty ranges, volatility metrics, and risk indicators.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Existing models primarily rely on historical price data, with limited integration of technical,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fundamental, and sentiment-based financial information.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The absence of unified frameworks combining prediction, explainability, risk analysis, and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visualization highlights the need for a transparent and interactive deep learning–based stock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forecasting system.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>
            <a:spLocks noGrp="1"/>
          </p:cNvSpPr>
          <p:nvPr>
            <p:ph type="title"/>
          </p:nvPr>
        </p:nvSpPr>
        <p:spPr>
          <a:xfrm>
            <a:off x="457200" y="1176728"/>
            <a:ext cx="5726243" cy="209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>
              <a:buClr>
                <a:schemeClr val="dk2"/>
              </a:buClr>
              <a:buSzPct val="100000"/>
            </a:pPr>
            <a:r>
              <a:rPr lang="en-US" sz="3100" b="1" dirty="0"/>
              <a:t>Key Findings from Past Studies</a:t>
            </a:r>
            <a:br>
              <a:rPr lang="en-US" sz="4000" dirty="0"/>
            </a:br>
            <a:endParaRPr dirty="0"/>
          </a:p>
        </p:txBody>
      </p:sp>
      <p:sp>
        <p:nvSpPr>
          <p:cNvPr id="180" name="Google Shape;180;p31"/>
          <p:cNvSpPr txBox="1">
            <a:spLocks noGrp="1"/>
          </p:cNvSpPr>
          <p:nvPr>
            <p:ph type="body" idx="1"/>
          </p:nvPr>
        </p:nvSpPr>
        <p:spPr>
          <a:xfrm>
            <a:off x="333274" y="1716258"/>
            <a:ext cx="8256089" cy="32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br>
              <a:rPr lang="en-GB" sz="1600" dirty="0"/>
            </a:br>
            <a:endParaRPr sz="1600" dirty="0"/>
          </a:p>
          <a:p>
            <a:pPr marL="45720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79" dirty="0"/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20"/>
              <a:buNone/>
            </a:pPr>
            <a:endParaRPr sz="1979" dirty="0"/>
          </a:p>
        </p:txBody>
      </p:sp>
      <p:sp>
        <p:nvSpPr>
          <p:cNvPr id="181" name="Google Shape;181;p3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5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6F8F6FA-B0D9-3099-D0D8-0D701B4E6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8907"/>
            <a:ext cx="7642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AI-based trading systems generally outperform manual trading strategies by leveraging large-scale historical financial data and advanced machine learning techniques.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Deep learning models, particularly LSTM networks, effectively capture long-term dependencies and nonlinear patterns in time-series stock data.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600" dirty="0"/>
              <a:t>Hybrid architectures such as CNN–LSTM enhance feature extraction and temporal learning, improving overall prediction performance.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Automated and algorithmic trading systems reduce emotional bias, improve execution speed, and efficiently process vast amounts of structured and unstructured financial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Although prediction accuracy has improved, there remains a need for greater interpretability, transparency, and robustness in AI-based forecasting systems.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title"/>
          </p:nvPr>
        </p:nvSpPr>
        <p:spPr>
          <a:xfrm>
            <a:off x="457200" y="993116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GB" sz="4000" b="1" dirty="0">
                <a:solidFill>
                  <a:schemeClr val="dk2"/>
                </a:solidFill>
              </a:rPr>
              <a:t>Research</a:t>
            </a:r>
            <a:r>
              <a:rPr lang="en-GB" dirty="0"/>
              <a:t> </a:t>
            </a:r>
            <a:r>
              <a:rPr lang="en-GB" sz="4000" b="1" dirty="0">
                <a:solidFill>
                  <a:schemeClr val="dk2"/>
                </a:solidFill>
              </a:rPr>
              <a:t>Objectives</a:t>
            </a:r>
            <a:endParaRPr dirty="0"/>
          </a:p>
        </p:txBody>
      </p:sp>
      <p:sp>
        <p:nvSpPr>
          <p:cNvPr id="188" name="Google Shape;188;p32"/>
          <p:cNvSpPr txBox="1">
            <a:spLocks noGrp="1"/>
          </p:cNvSpPr>
          <p:nvPr>
            <p:ph type="body" idx="1"/>
          </p:nvPr>
        </p:nvSpPr>
        <p:spPr>
          <a:xfrm>
            <a:off x="457200" y="1484142"/>
            <a:ext cx="8290560" cy="3659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2000" dirty="0"/>
              <a:t>Design and develop an AI-based stock price prediction system using a CNN–LSTM deep learning architecture for accurate future price forecasting.</a:t>
            </a:r>
          </a:p>
          <a:p>
            <a:r>
              <a:rPr lang="en-US" sz="2000" dirty="0"/>
              <a:t>Analyze historical OHLCV data to identify meaningful patterns and compare the proposed model with traditional and standalone models such as ARIMA, SVR, CNN, and LSTM.</a:t>
            </a:r>
          </a:p>
          <a:p>
            <a:r>
              <a:rPr lang="en-US" sz="2000" dirty="0"/>
              <a:t>Evaluate model performance using standard metrics including RMSE, MAE, MAPE, and Directional Accuracy.</a:t>
            </a:r>
          </a:p>
          <a:p>
            <a:r>
              <a:rPr lang="en-US" sz="2000" dirty="0"/>
              <a:t>Assess the system’s capability to provide reliable future price forecasts to support informed investment decisions.</a:t>
            </a:r>
          </a:p>
          <a:p>
            <a:r>
              <a:rPr lang="en-US" sz="2000" dirty="0"/>
              <a:t>Deliver an accurate and reliable prediction framework with clear visual insights and improved forecasting performance for data-driven financial analysis.</a:t>
            </a:r>
            <a:endParaRPr sz="1979" dirty="0"/>
          </a:p>
        </p:txBody>
      </p:sp>
      <p:sp>
        <p:nvSpPr>
          <p:cNvPr id="189" name="Google Shape;189;p3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pic>
        <p:nvPicPr>
          <p:cNvPr id="190" name="Google Shape;19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410870" y="91759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lang="en-GB" sz="36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 dirty="0"/>
          </a:p>
        </p:txBody>
      </p:sp>
      <p:sp>
        <p:nvSpPr>
          <p:cNvPr id="197" name="Google Shape;197;p3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pic>
        <p:nvPicPr>
          <p:cNvPr id="198" name="Google Shape;19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5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1241C-79EC-7F8F-62C6-17BDC71D4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4163" y="1874711"/>
            <a:ext cx="767183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dirty="0"/>
              <a:t>The proposed system utilizes both historical and real-time financial market data for comprehensive analysis and model training.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dirty="0"/>
              <a:t>Historical market data includes OHLCV (Open, High, Low, Close, Volume) along with timestamp information collected from stock performance records.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</a:t>
            </a:r>
            <a:r>
              <a:rPr lang="en-US" sz="1600" dirty="0"/>
              <a:t>eal-time data consists of live price feeds obtained through broker or market APIs to support dynamic trading decisions.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dirty="0"/>
              <a:t>The methodology follows a modular AI-driven framework beginning with a Data Collection Module that gathers historical and live data.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sz="1600" dirty="0"/>
              <a:t>A Data Preprocessing Module cleans the data, removes noise, normalizes values, and generates relevant technical indicators for model input.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>
            <a:spLocks noGrp="1"/>
          </p:cNvSpPr>
          <p:nvPr>
            <p:ph type="title"/>
          </p:nvPr>
        </p:nvSpPr>
        <p:spPr>
          <a:xfrm>
            <a:off x="457200" y="825485"/>
            <a:ext cx="8229600" cy="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mbria"/>
              <a:buNone/>
            </a:pPr>
            <a:r>
              <a:rPr lang="en-GB" sz="36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Implementation Details</a:t>
            </a:r>
            <a:endParaRPr/>
          </a:p>
        </p:txBody>
      </p:sp>
      <p:sp>
        <p:nvSpPr>
          <p:cNvPr id="204" name="Google Shape;204;p34"/>
          <p:cNvSpPr txBox="1">
            <a:spLocks noGrp="1"/>
          </p:cNvSpPr>
          <p:nvPr>
            <p:ph type="body" idx="1"/>
          </p:nvPr>
        </p:nvSpPr>
        <p:spPr>
          <a:xfrm>
            <a:off x="379025" y="1652954"/>
            <a:ext cx="8068624" cy="2963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Programming Language:</a:t>
            </a:r>
            <a:r>
              <a:rPr lang="en-IN" sz="1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Machine Learning Libraries:</a:t>
            </a:r>
            <a:r>
              <a:rPr lang="en-IN" sz="1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/>
              <a:t>NumPy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/>
              <a:t>Pandas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200" dirty="0" err="1"/>
              <a:t>yfinance</a:t>
            </a:r>
            <a:r>
              <a:rPr lang="en-US" sz="1200" dirty="0"/>
              <a:t> - for stock data collection </a:t>
            </a:r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Deep Learning Framework:</a:t>
            </a:r>
            <a:r>
              <a:rPr lang="en-IN" sz="12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/>
              <a:t>TensorFlow(</a:t>
            </a:r>
            <a:r>
              <a:rPr lang="en-IN" sz="1200" dirty="0" err="1"/>
              <a:t>keras</a:t>
            </a:r>
            <a:r>
              <a:rPr lang="en-IN" sz="1200" dirty="0"/>
              <a:t> API)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Frontend: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 err="1"/>
              <a:t>Streamlit</a:t>
            </a:r>
            <a:endParaRPr lang="en-IN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/>
              <a:t>Backend</a:t>
            </a:r>
            <a:r>
              <a:rPr lang="en-IN" sz="12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200" dirty="0" err="1"/>
              <a:t>FastAPI</a:t>
            </a:r>
            <a:endParaRPr lang="en-IN" sz="1200" dirty="0"/>
          </a:p>
        </p:txBody>
      </p:sp>
      <p:sp>
        <p:nvSpPr>
          <p:cNvPr id="205" name="Google Shape;205;p3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pic>
        <p:nvPicPr>
          <p:cNvPr id="206" name="Google Shape;20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>
            <a:spLocks noGrp="1"/>
          </p:cNvSpPr>
          <p:nvPr>
            <p:ph type="title"/>
          </p:nvPr>
        </p:nvSpPr>
        <p:spPr>
          <a:xfrm>
            <a:off x="457185" y="598307"/>
            <a:ext cx="8229600" cy="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mbria"/>
              <a:buNone/>
            </a:pPr>
            <a:r>
              <a:rPr lang="en-GB" sz="36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Results </a:t>
            </a:r>
            <a:endParaRPr dirty="0"/>
          </a:p>
        </p:txBody>
      </p:sp>
      <p:sp>
        <p:nvSpPr>
          <p:cNvPr id="213" name="Google Shape;213;p35"/>
          <p:cNvSpPr txBox="1">
            <a:spLocks noGrp="1"/>
          </p:cNvSpPr>
          <p:nvPr>
            <p:ph type="body" idx="1"/>
          </p:nvPr>
        </p:nvSpPr>
        <p:spPr>
          <a:xfrm>
            <a:off x="275575" y="970671"/>
            <a:ext cx="8706647" cy="407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Key Findings (with Graphs / Tables / Visualizations)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performance of the proposed </a:t>
            </a:r>
            <a:r>
              <a:rPr lang="en-US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CNN–LSTM–based stock price prediction model</a:t>
            </a: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 was evaluated using historical INFY stock data, with the test period spanning </a:t>
            </a:r>
            <a:r>
              <a:rPr lang="en-US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2025–2026</a:t>
            </a:r>
            <a:r>
              <a:rPr lang="en-US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experimental results indicate that the </a:t>
            </a:r>
            <a:r>
              <a:rPr lang="en-IN" sz="1600" b="1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hybrid CNN–LSTM model consistently outperformed traditional and standalone models</a:t>
            </a:r>
            <a:r>
              <a:rPr lang="en-IN" sz="1600" dirty="0"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, including ARIMA, SVR, CNN, and LSTM, across all evaluation metrics.</a:t>
            </a: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Time-series prediction models (such as LSTM) showed improved accuracy in identifying market trends.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The analysis dashboard successfully visualized: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Real-time profit and loss 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Trade entry and exit points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Strategy-wise performance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Risk metrics such as drawdown and win rate</a:t>
            </a:r>
          </a:p>
        </p:txBody>
      </p:sp>
      <p:sp>
        <p:nvSpPr>
          <p:cNvPr id="214" name="Google Shape;214;p3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pic>
        <p:nvPicPr>
          <p:cNvPr id="215" name="Google Shape;21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0946B-0B03-B98F-F92F-8238FDEF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Screenshots</a:t>
            </a:r>
            <a:endParaRPr lang="en-IN" sz="2800" dirty="0"/>
          </a:p>
        </p:txBody>
      </p:sp>
      <p:pic>
        <p:nvPicPr>
          <p:cNvPr id="9" name="Google Shape;141;p26">
            <a:extLst>
              <a:ext uri="{FF2B5EF4-FFF2-40B4-BE49-F238E27FC236}">
                <a16:creationId xmlns:a16="http://schemas.microsoft.com/office/drawing/2014/main" id="{5E0CAE79-61F4-27EF-645E-D9727501D7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84" y="34493"/>
            <a:ext cx="3775113" cy="567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44F4E-5DD9-56AE-3248-415D92AB7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0497"/>
            <a:ext cx="4572000" cy="3371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DDB15A-BDE7-B803-F79F-C094AAEFA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8" y="1350497"/>
            <a:ext cx="4572001" cy="33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4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>
            <a:spLocks noGrp="1"/>
          </p:cNvSpPr>
          <p:nvPr>
            <p:ph type="title"/>
          </p:nvPr>
        </p:nvSpPr>
        <p:spPr>
          <a:xfrm>
            <a:off x="387350" y="1911350"/>
            <a:ext cx="8299450" cy="5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buClr>
                <a:schemeClr val="dk2"/>
              </a:buClr>
              <a:buSzPts val="3600"/>
            </a:pPr>
            <a:r>
              <a:rPr lang="en-GB" sz="2800" b="1" dirty="0"/>
              <a:t>Limitations:</a:t>
            </a:r>
            <a:br>
              <a:rPr lang="en-GB" dirty="0"/>
            </a:br>
            <a:endParaRPr dirty="0"/>
          </a:p>
        </p:txBody>
      </p:sp>
      <p:sp>
        <p:nvSpPr>
          <p:cNvPr id="239" name="Google Shape;239;p3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pic>
        <p:nvPicPr>
          <p:cNvPr id="240" name="Google Shape;24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5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9199E-6C59-E7DD-1DA1-9AEE91AFC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350" y="1772851"/>
            <a:ext cx="807004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The model’s performance heavily depends on the quality, accuracy, and volume of historical stock data. Noisy, incomplete, or insufficient data can significantly reduce prediction accuracy and generalization capability.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Extreme events such as economic crises, policy changes, geopolitical conflicts, or unexpected corporate announcements (black swan events) can drastically affect market behavior, making predictions less reliable.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The system mainly relies on historical time-series data and does not fully incorporate real-time external factors like news sentiment or social media analysis, limiting contextual awareness.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There is a risk of overfitting if the model is not properly tuned and validated. Additionally, periodic retraining is required to adapt to changing market conditions.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>
            <a:spLocks noGrp="1"/>
          </p:cNvSpPr>
          <p:nvPr>
            <p:ph type="title"/>
          </p:nvPr>
        </p:nvSpPr>
        <p:spPr>
          <a:xfrm>
            <a:off x="457200" y="1414293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buClr>
                <a:schemeClr val="dk2"/>
              </a:buClr>
              <a:buSzPts val="3600"/>
            </a:pPr>
            <a:r>
              <a:rPr lang="en-GB" sz="3200" b="1" dirty="0"/>
              <a:t>Future Research Directions</a:t>
            </a:r>
            <a:br>
              <a:rPr lang="en-GB" dirty="0"/>
            </a:br>
            <a:endParaRPr dirty="0"/>
          </a:p>
        </p:txBody>
      </p:sp>
      <p:sp>
        <p:nvSpPr>
          <p:cNvPr id="247" name="Google Shape;247;p3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pic>
        <p:nvPicPr>
          <p:cNvPr id="248" name="Google Shape;24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5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9FDE0-8B3A-77F9-A636-8CFE2D971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3539" y="2106564"/>
            <a:ext cx="814038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Integration of advanced deep learning models (e.g., Transformers) for improved temporal feature learning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Adoption of Reinforcement Learning for adaptive trading strategies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Incorporation of real-time news and sentiment analysis for contextual market understanding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Extension to multi-stock, portfolio, and sector-level prediction models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Implementation of explainable AI, risk management, and scalable real-time deployment frameworks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457200" y="598291"/>
            <a:ext cx="8229600" cy="90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lang="en-GB" sz="36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dirty="0"/>
          </a:p>
        </p:txBody>
      </p:sp>
      <p:sp>
        <p:nvSpPr>
          <p:cNvPr id="231" name="Google Shape;231;p3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pic>
        <p:nvPicPr>
          <p:cNvPr id="232" name="Google Shape;232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0F9CB-06A9-3F6F-A0CD-B0C5195553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82700" y="1488056"/>
            <a:ext cx="791114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Successfully designed and implemented a hybrid CNN–LSTM–based stock price prediction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/>
              <a:t>system for forecasting INFY stock prices using historical time-series data.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Developed an integrated deep learning architecture combining CNN for short-term feature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/>
              <a:t>extraction and LSTM for long-term trend modeling, improving prediction accuracy.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Applied advanced preprocessing techniques and evaluation metrics (MSE, RMSE) to ensure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/>
              <a:t>reliable and effective model performance on complex financial data.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Demonstrated the capability of hybrid deep learning models to capture nonlinear market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/>
              <a:t>patterns and provide practical AI-driven forecasting solutions.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600" dirty="0"/>
              <a:t>Provided a scalable and extensible framework that bridges deep learning research with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600" dirty="0"/>
              <a:t>intelligent financial decision-support systems.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0"/>
          <p:cNvSpPr txBox="1">
            <a:spLocks noGrp="1"/>
          </p:cNvSpPr>
          <p:nvPr>
            <p:ph type="title"/>
          </p:nvPr>
        </p:nvSpPr>
        <p:spPr>
          <a:xfrm>
            <a:off x="185057" y="520505"/>
            <a:ext cx="8229600" cy="647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mbria"/>
              <a:buNone/>
            </a:pPr>
            <a:r>
              <a:rPr lang="en-GB" sz="3600" b="1" dirty="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 dirty="0"/>
          </a:p>
        </p:txBody>
      </p:sp>
      <p:sp>
        <p:nvSpPr>
          <p:cNvPr id="254" name="Google Shape;254;p40"/>
          <p:cNvSpPr txBox="1">
            <a:spLocks noGrp="1"/>
          </p:cNvSpPr>
          <p:nvPr>
            <p:ph type="body" idx="1"/>
          </p:nvPr>
        </p:nvSpPr>
        <p:spPr>
          <a:xfrm>
            <a:off x="457200" y="1167617"/>
            <a:ext cx="8229600" cy="387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None/>
            </a:pPr>
            <a:r>
              <a:rPr lang="en-IN" sz="1200" dirty="0"/>
              <a:t>[1</a:t>
            </a:r>
            <a:r>
              <a:rPr lang="en-US" sz="1200" dirty="0"/>
              <a:t>)</a:t>
            </a:r>
            <a:r>
              <a:rPr lang="en-US" sz="1200" dirty="0" err="1"/>
              <a:t>ZReddy</a:t>
            </a:r>
            <a:r>
              <a:rPr lang="en-US" sz="1200" dirty="0"/>
              <a:t>, P., et al. (2024). Mesas, M. B. (2025). Investigation of fore- casting model designed to evaluate financial trends (Doctoral     dissertation, Kauno technologist universitates.). Applied Soft Computing, 152, 111234.</a:t>
            </a:r>
          </a:p>
          <a:p>
            <a:pPr marL="114300" lvl="0" indent="0">
              <a:buNone/>
            </a:pPr>
            <a:r>
              <a:rPr lang="en-US" sz="1200" dirty="0"/>
              <a:t>https://doi.org/10.1016/j.asoc.2023.111234</a:t>
            </a:r>
          </a:p>
          <a:p>
            <a:pPr marL="114300" lvl="0" indent="0">
              <a:buNone/>
            </a:pPr>
            <a:endParaRPr lang="en-US" sz="1200" dirty="0"/>
          </a:p>
          <a:p>
            <a:pPr marL="114300" lvl="0" indent="0">
              <a:buNone/>
            </a:pPr>
            <a:r>
              <a:rPr lang="en-US" sz="1200" dirty="0"/>
              <a:t>2)Zhang, W., et al. (2025). Ramos, F., Silva, G., Luz, E., Silva, P. (2023, September). Enhancing Stock Market Predictions Through the Integration of Convolutional and Recursive LSTM Blocks: A Cross- market Analysis. In Brazilian Conference on Intelligent Systems (pp. 92- 106). Cham: Springer Nature Switzerland. International Journal of Fore- casting, 41(1), 210–225. https://doi.org/10.1016/j.ijforecast.2024.06.003</a:t>
            </a:r>
          </a:p>
          <a:p>
            <a:pPr marL="114300" lvl="0" indent="0">
              <a:buNone/>
            </a:pPr>
            <a:endParaRPr lang="en-US" sz="1200" dirty="0"/>
          </a:p>
          <a:p>
            <a:pPr marL="114300" lvl="0" indent="0">
              <a:buNone/>
            </a:pPr>
            <a:r>
              <a:rPr lang="en-US" sz="1200" dirty="0"/>
              <a:t>3)Gupta, A., et al. (2025). Singh, P., Jha, M., Sharaf, M., El-Meling, M. A., Gadek Allu, T. R. (2023). Harnessing a hybrid CNN-LSTM model for portfolio performance: A case study on stock selection and optimization. </a:t>
            </a:r>
            <a:r>
              <a:rPr lang="en-US" sz="1200" dirty="0" err="1"/>
              <a:t>Ieee</a:t>
            </a:r>
            <a:r>
              <a:rPr lang="en-US" sz="1200" dirty="0"/>
              <a:t> Access, 11, 104000-104015. Quantitative Finance, 25(2), 301–318. https://doi.org/10.1080/14697688.2024.2401234</a:t>
            </a:r>
          </a:p>
          <a:p>
            <a:pPr marL="114300" lvl="0" indent="0">
              <a:buNone/>
            </a:pPr>
            <a:endParaRPr lang="en-US" sz="1200" dirty="0"/>
          </a:p>
          <a:p>
            <a:pPr marL="114300" lvl="0" indent="0">
              <a:buNone/>
            </a:pPr>
            <a:r>
              <a:rPr lang="en-US" sz="1200" dirty="0"/>
              <a:t>4)Wang, L., et al. (2025). Patel, N., Vasani, N., Jadav, N. K., Gupta, R., Tanwar, S., Polkowski, Z., ... Gafar, A. (2023). F-LSTM: Federated learning-based LSTM framework for cryptocurrency price prediction. Electronic Research Archive, 31(10). ACM Transactions on Intelligent Systems and Technology, 16(1), Article 12. https://doi.org/10.1145/ 3638521</a:t>
            </a:r>
          </a:p>
        </p:txBody>
      </p:sp>
      <p:sp>
        <p:nvSpPr>
          <p:cNvPr id="255" name="Google Shape;255;p4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pic>
        <p:nvPicPr>
          <p:cNvPr id="256" name="Google Shape;25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1"/>
          <p:cNvSpPr txBox="1">
            <a:spLocks noGrp="1"/>
          </p:cNvSpPr>
          <p:nvPr>
            <p:ph type="title"/>
          </p:nvPr>
        </p:nvSpPr>
        <p:spPr>
          <a:xfrm>
            <a:off x="457200" y="1895986"/>
            <a:ext cx="822960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Calibri"/>
              <a:buNone/>
            </a:pPr>
            <a:r>
              <a:rPr lang="en-GB" b="1">
                <a:solidFill>
                  <a:srgbClr val="0070C0"/>
                </a:solidFill>
              </a:rPr>
              <a:t>Q&amp;A</a:t>
            </a:r>
            <a:endParaRPr/>
          </a:p>
        </p:txBody>
      </p:sp>
      <p:sp>
        <p:nvSpPr>
          <p:cNvPr id="262" name="Google Shape;262;p41"/>
          <p:cNvSpPr txBox="1">
            <a:spLocks noGrp="1"/>
          </p:cNvSpPr>
          <p:nvPr>
            <p:ph type="body" idx="1"/>
          </p:nvPr>
        </p:nvSpPr>
        <p:spPr>
          <a:xfrm>
            <a:off x="457200" y="286566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GB" b="1"/>
              <a:t>Thank you!</a:t>
            </a:r>
            <a:endParaRPr/>
          </a:p>
        </p:txBody>
      </p:sp>
      <p:sp>
        <p:nvSpPr>
          <p:cNvPr id="263" name="Google Shape;263;p4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pic>
        <p:nvPicPr>
          <p:cNvPr id="264" name="Google Shape;26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00" y="34493"/>
            <a:ext cx="3873084" cy="563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3215</TotalTime>
  <Words>1721</Words>
  <Application>Microsoft Office PowerPoint</Application>
  <PresentationFormat>On-screen Show (16:9)</PresentationFormat>
  <Paragraphs>143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(Body)</vt:lpstr>
      <vt:lpstr>Arial Black</vt:lpstr>
      <vt:lpstr>Cambria</vt:lpstr>
      <vt:lpstr>Simple Light</vt:lpstr>
      <vt:lpstr>Office Theme</vt:lpstr>
      <vt:lpstr>Lead HeatScore – An AI + RAG Lead System</vt:lpstr>
      <vt:lpstr>Introduction</vt:lpstr>
      <vt:lpstr>Research Problem Statement </vt:lpstr>
      <vt:lpstr>                        Motivation and Significance</vt:lpstr>
      <vt:lpstr>Literature Review</vt:lpstr>
      <vt:lpstr>PowerPoint Presentation</vt:lpstr>
      <vt:lpstr>Key Findings from Past Studies </vt:lpstr>
      <vt:lpstr>Research Objectives</vt:lpstr>
      <vt:lpstr>Methodology</vt:lpstr>
      <vt:lpstr>Implementation Details</vt:lpstr>
      <vt:lpstr>Results </vt:lpstr>
      <vt:lpstr>Screenshots</vt:lpstr>
      <vt:lpstr>Limitations: </vt:lpstr>
      <vt:lpstr>Future Research Directions </vt:lpstr>
      <vt:lpstr>Conclusion</vt:lpstr>
      <vt:lpstr>References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Study AI-Lecture Navigator</dc:title>
  <dc:creator>S.Sakthidharan</dc:creator>
  <cp:lastModifiedBy>ssakthidharan2005@outlook.com</cp:lastModifiedBy>
  <cp:revision>8</cp:revision>
  <dcterms:modified xsi:type="dcterms:W3CDTF">2026-02-19T15:26:27Z</dcterms:modified>
</cp:coreProperties>
</file>