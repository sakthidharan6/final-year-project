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7" r:id="rId4"/>
    <p:sldId id="268" r:id="rId5"/>
    <p:sldId id="270" r:id="rId6"/>
    <p:sldId id="258" r:id="rId7"/>
    <p:sldId id="269" r:id="rId8"/>
    <p:sldId id="259" r:id="rId9"/>
    <p:sldId id="260" r:id="rId10"/>
    <p:sldId id="271" r:id="rId11"/>
    <p:sldId id="272" r:id="rId12"/>
    <p:sldId id="261" r:id="rId13"/>
    <p:sldId id="277" r:id="rId14"/>
    <p:sldId id="273" r:id="rId15"/>
    <p:sldId id="263" r:id="rId16"/>
    <p:sldId id="275" r:id="rId17"/>
    <p:sldId id="274" r:id="rId18"/>
    <p:sldId id="264" r:id="rId19"/>
    <p:sldId id="276" r:id="rId20"/>
    <p:sldId id="26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12A22E-8114-4124-8C8B-8ABC994AFBCB}" v="17" dt="2026-02-05T03:45:34.7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458" autoAdjust="0"/>
  </p:normalViewPr>
  <p:slideViewPr>
    <p:cSldViewPr snapToGrid="0" snapToObjects="1">
      <p:cViewPr varScale="1">
        <p:scale>
          <a:sx n="74" d="100"/>
          <a:sy n="74" d="100"/>
        </p:scale>
        <p:origin x="171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sakthidharan2005@outlook.com" userId="ea2e4098e3f79123" providerId="LiveId" clId="{6F86F70E-2BE3-44F3-93E3-59AA5A7A527D}"/>
    <pc:docChg chg="undo custSel addSld delSld modSld">
      <pc:chgData name="ssakthidharan2005@outlook.com" userId="ea2e4098e3f79123" providerId="LiveId" clId="{6F86F70E-2BE3-44F3-93E3-59AA5A7A527D}" dt="2026-02-05T03:46:11.027" v="140" actId="2696"/>
      <pc:docMkLst>
        <pc:docMk/>
      </pc:docMkLst>
      <pc:sldChg chg="modSp del mod">
        <pc:chgData name="ssakthidharan2005@outlook.com" userId="ea2e4098e3f79123" providerId="LiveId" clId="{6F86F70E-2BE3-44F3-93E3-59AA5A7A527D}" dt="2026-02-05T03:46:11.027" v="140" actId="2696"/>
        <pc:sldMkLst>
          <pc:docMk/>
          <pc:sldMk cId="0" sldId="262"/>
        </pc:sldMkLst>
        <pc:graphicFrameChg chg="mod modGraphic">
          <ac:chgData name="ssakthidharan2005@outlook.com" userId="ea2e4098e3f79123" providerId="LiveId" clId="{6F86F70E-2BE3-44F3-93E3-59AA5A7A527D}" dt="2026-02-05T03:45:25.034" v="137" actId="14734"/>
          <ac:graphicFrameMkLst>
            <pc:docMk/>
            <pc:sldMk cId="0" sldId="262"/>
            <ac:graphicFrameMk id="4" creationId="{C6B45BD8-23C4-4C52-BB41-285CA6FE345A}"/>
          </ac:graphicFrameMkLst>
        </pc:graphicFrameChg>
      </pc:sldChg>
      <pc:sldChg chg="addSp delSp modSp mod">
        <pc:chgData name="ssakthidharan2005@outlook.com" userId="ea2e4098e3f79123" providerId="LiveId" clId="{6F86F70E-2BE3-44F3-93E3-59AA5A7A527D}" dt="2026-02-04T05:48:52.627" v="68" actId="113"/>
        <pc:sldMkLst>
          <pc:docMk/>
          <pc:sldMk cId="0" sldId="264"/>
        </pc:sldMkLst>
        <pc:spChg chg="add del mod">
          <ac:chgData name="ssakthidharan2005@outlook.com" userId="ea2e4098e3f79123" providerId="LiveId" clId="{6F86F70E-2BE3-44F3-93E3-59AA5A7A527D}" dt="2026-02-04T05:48:52.627" v="68" actId="113"/>
          <ac:spMkLst>
            <pc:docMk/>
            <pc:sldMk cId="0" sldId="264"/>
            <ac:spMk id="10" creationId="{A8E7FA19-E41F-4A26-8392-8B1D652FB545}"/>
          </ac:spMkLst>
        </pc:spChg>
      </pc:sldChg>
      <pc:sldChg chg="modSp mod">
        <pc:chgData name="ssakthidharan2005@outlook.com" userId="ea2e4098e3f79123" providerId="LiveId" clId="{6F86F70E-2BE3-44F3-93E3-59AA5A7A527D}" dt="2026-02-05T02:48:02.789" v="122" actId="20577"/>
        <pc:sldMkLst>
          <pc:docMk/>
          <pc:sldMk cId="4243469197" sldId="271"/>
        </pc:sldMkLst>
        <pc:spChg chg="mod">
          <ac:chgData name="ssakthidharan2005@outlook.com" userId="ea2e4098e3f79123" providerId="LiveId" clId="{6F86F70E-2BE3-44F3-93E3-59AA5A7A527D}" dt="2026-02-05T02:48:02.789" v="122" actId="20577"/>
          <ac:spMkLst>
            <pc:docMk/>
            <pc:sldMk cId="4243469197" sldId="271"/>
            <ac:spMk id="3" creationId="{A3623ED3-AC47-A1D5-C9D2-6FC3FA9C9C35}"/>
          </ac:spMkLst>
        </pc:spChg>
      </pc:sldChg>
      <pc:sldChg chg="modSp add mod">
        <pc:chgData name="ssakthidharan2005@outlook.com" userId="ea2e4098e3f79123" providerId="LiveId" clId="{6F86F70E-2BE3-44F3-93E3-59AA5A7A527D}" dt="2026-02-04T05:48:33.183" v="63" actId="113"/>
        <pc:sldMkLst>
          <pc:docMk/>
          <pc:sldMk cId="1832511375" sldId="276"/>
        </pc:sldMkLst>
        <pc:spChg chg="mod">
          <ac:chgData name="ssakthidharan2005@outlook.com" userId="ea2e4098e3f79123" providerId="LiveId" clId="{6F86F70E-2BE3-44F3-93E3-59AA5A7A527D}" dt="2026-02-04T05:48:33.183" v="63" actId="113"/>
          <ac:spMkLst>
            <pc:docMk/>
            <pc:sldMk cId="1832511375" sldId="276"/>
            <ac:spMk id="10" creationId="{F59AD5B4-899E-2D2F-BBA6-32CAB34B5356}"/>
          </ac:spMkLst>
        </pc:spChg>
      </pc:sldChg>
      <pc:sldChg chg="addSp delSp modSp add mod">
        <pc:chgData name="ssakthidharan2005@outlook.com" userId="ea2e4098e3f79123" providerId="LiveId" clId="{6F86F70E-2BE3-44F3-93E3-59AA5A7A527D}" dt="2026-02-05T03:45:41.435" v="139" actId="1076"/>
        <pc:sldMkLst>
          <pc:docMk/>
          <pc:sldMk cId="780315971" sldId="277"/>
        </pc:sldMkLst>
        <pc:spChg chg="mod">
          <ac:chgData name="ssakthidharan2005@outlook.com" userId="ea2e4098e3f79123" providerId="LiveId" clId="{6F86F70E-2BE3-44F3-93E3-59AA5A7A527D}" dt="2026-02-05T03:43:19.848" v="128" actId="1076"/>
          <ac:spMkLst>
            <pc:docMk/>
            <pc:sldMk cId="780315971" sldId="277"/>
            <ac:spMk id="7" creationId="{4658EC17-D521-D57B-B720-24E69E90166A}"/>
          </ac:spMkLst>
        </pc:spChg>
        <pc:spChg chg="add del mod">
          <ac:chgData name="ssakthidharan2005@outlook.com" userId="ea2e4098e3f79123" providerId="LiveId" clId="{6F86F70E-2BE3-44F3-93E3-59AA5A7A527D}" dt="2026-02-05T03:42:59.903" v="127" actId="3680"/>
          <ac:spMkLst>
            <pc:docMk/>
            <pc:sldMk cId="780315971" sldId="277"/>
            <ac:spMk id="8" creationId="{D55C7841-6F76-4AAD-0518-D7549E7520D4}"/>
          </ac:spMkLst>
        </pc:spChg>
        <pc:spChg chg="add del mod">
          <ac:chgData name="ssakthidharan2005@outlook.com" userId="ea2e4098e3f79123" providerId="LiveId" clId="{6F86F70E-2BE3-44F3-93E3-59AA5A7A527D}" dt="2026-02-05T03:43:57.034" v="131" actId="3680"/>
          <ac:spMkLst>
            <pc:docMk/>
            <pc:sldMk cId="780315971" sldId="277"/>
            <ac:spMk id="11" creationId="{32712822-55B1-9A91-6AAF-F9FB604F903A}"/>
          </ac:spMkLst>
        </pc:spChg>
        <pc:graphicFrameChg chg="del modGraphic">
          <ac:chgData name="ssakthidharan2005@outlook.com" userId="ea2e4098e3f79123" providerId="LiveId" clId="{6F86F70E-2BE3-44F3-93E3-59AA5A7A527D}" dt="2026-02-05T03:42:33.095" v="126" actId="21"/>
          <ac:graphicFrameMkLst>
            <pc:docMk/>
            <pc:sldMk cId="780315971" sldId="277"/>
            <ac:graphicFrameMk id="4" creationId="{B26EA8DD-212F-B0B5-9B59-E5B8B32D20A2}"/>
          </ac:graphicFrameMkLst>
        </pc:graphicFrameChg>
        <pc:graphicFrameChg chg="add del mod ord modGraphic">
          <ac:chgData name="ssakthidharan2005@outlook.com" userId="ea2e4098e3f79123" providerId="LiveId" clId="{6F86F70E-2BE3-44F3-93E3-59AA5A7A527D}" dt="2026-02-05T03:43:46.169" v="130" actId="21"/>
          <ac:graphicFrameMkLst>
            <pc:docMk/>
            <pc:sldMk cId="780315971" sldId="277"/>
            <ac:graphicFrameMk id="9" creationId="{25062386-0739-F026-771C-54D9E66FD2A6}"/>
          </ac:graphicFrameMkLst>
        </pc:graphicFrameChg>
        <pc:graphicFrameChg chg="add mod ord modGraphic">
          <ac:chgData name="ssakthidharan2005@outlook.com" userId="ea2e4098e3f79123" providerId="LiveId" clId="{6F86F70E-2BE3-44F3-93E3-59AA5A7A527D}" dt="2026-02-05T03:45:41.435" v="139" actId="1076"/>
          <ac:graphicFrameMkLst>
            <pc:docMk/>
            <pc:sldMk cId="780315971" sldId="277"/>
            <ac:graphicFrameMk id="12" creationId="{26B21F52-18F2-51C2-77BD-0259C7C99F4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52BEE-74DA-4E97-B143-4D3F2BF8349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7A3261-81DC-4A21-BF3E-923CD05F4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515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691EF-E8A8-7BE2-F5BD-701303A1D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A1D9C-AE9E-27CF-FA96-FDAA27625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8C660-9F3D-AE0D-E07F-BE9B06F10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1F165-E268-E20C-58FB-50F43892A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A3261-81DC-4A21-BF3E-923CD05F44E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468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A3261-81DC-4A21-BF3E-923CD05F44E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930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4406F-35F1-4F99-85E8-739B22C87CF1}" type="datetime3">
              <a:rPr lang="en-US" smtClean="0"/>
              <a:t>5 February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Conference on Data Science, Agents, and Artificial Intelligence (ICDSAAI 2025)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317C-1B0B-499E-890D-4A02A62967DC}" type="datetime3">
              <a:rPr lang="en-US" smtClean="0"/>
              <a:t>5 February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Conference on Data Science, Agents, and Artificial Intelligence (ICDSAAI 2025)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B152-79A6-4AA8-891D-EDB8112AAD07}" type="datetime3">
              <a:rPr lang="en-US" smtClean="0"/>
              <a:t>5 February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Conference on Data Science, Agents, and Artificial Intelligence (ICDSAAI 2025)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FDA1D-4481-482C-A5F2-AA46168E3A87}" type="datetime3">
              <a:rPr lang="en-US" smtClean="0"/>
              <a:t>5 February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Conference on Data Science, Agents, and Artificial Intelligence (ICDSAAI 2025)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FF06-9C22-44BF-A13C-28CE2A12366E}" type="datetime3">
              <a:rPr lang="en-US" smtClean="0"/>
              <a:t>5 February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Conference on Data Science, Agents, and Artificial Intelligence (ICDSAAI 2025)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690B-6E58-4B27-91F0-9025F48FFF19}" type="datetime3">
              <a:rPr lang="en-US" smtClean="0"/>
              <a:t>5 February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Conference on Data Science, Agents, and Artificial Intelligence (ICDSAAI 2025)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D0F39-723E-47B4-80D4-BA6802467E01}" type="datetime3">
              <a:rPr lang="en-US" smtClean="0"/>
              <a:t>5 February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Conference on Data Science, Agents, and Artificial Intelligence (ICDSAAI 2025)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4733-E8BE-435A-83AB-E9EDBB3DC6C2}" type="datetime3">
              <a:rPr lang="en-US" smtClean="0"/>
              <a:t>5 February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Conference on Data Science, Agents, and Artificial Intelligence (ICDSAAI 2025)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FDE6-8F3E-4CAF-B3DC-96114AD8C2A8}" type="datetime3">
              <a:rPr lang="en-US" smtClean="0"/>
              <a:t>5 February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Conference on Data Science, Agents, and Artificial Intelligence (ICDSAAI 2025)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0E0D-E327-462A-87DF-03E072D3D7A9}" type="datetime3">
              <a:rPr lang="en-US" smtClean="0"/>
              <a:t>5 February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Conference on Data Science, Agents, and Artificial Intelligence (ICDSAAI 2025)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97A7A-B6A1-423C-9FB2-F409333D7A28}" type="datetime3">
              <a:rPr lang="en-US" smtClean="0"/>
              <a:t>5 February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Conference on Data Science, Agents, and Artificial Intelligence (ICDSAAI 2025)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86E22-091D-4DEC-B5C0-BCB7DF42CEE0}" type="datetime3">
              <a:rPr lang="en-US" smtClean="0"/>
              <a:t>5 February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International Conference on Data Science, Agents, and Artificial Intelligence (ICDSAAI 2025)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370695"/>
            <a:ext cx="8229600" cy="1736724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STOCK PRICE PREDICTION APPLICATION </a:t>
            </a:r>
            <a:endParaRPr lang="en-IN" sz="3600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7287" y="3275859"/>
            <a:ext cx="4460913" cy="2850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Project Guide: Dr. D. ROSY SALOMI VICTORIA</a:t>
            </a:r>
          </a:p>
          <a:p>
            <a:pPr marL="0" indent="0">
              <a:buNone/>
            </a:pPr>
            <a:r>
              <a:rPr lang="en-IN" dirty="0"/>
              <a:t>Designation: M.E.,</a:t>
            </a:r>
            <a:r>
              <a:rPr lang="en-IN" dirty="0" err="1"/>
              <a:t>Ph.D</a:t>
            </a:r>
            <a:r>
              <a:rPr lang="en-IN" dirty="0"/>
              <a:t>	Professor</a:t>
            </a:r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28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48212-0ADA-F74E-7F34-22EEFE540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34649" y="3275861"/>
            <a:ext cx="4582780" cy="2850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Name: SAKTHIDHARAN S</a:t>
            </a:r>
          </a:p>
          <a:p>
            <a:pPr marL="0" indent="0" algn="ctr">
              <a:buNone/>
            </a:pPr>
            <a:r>
              <a:rPr lang="en-IN" dirty="0"/>
              <a:t>PHOVESHRAJ A</a:t>
            </a:r>
          </a:p>
          <a:p>
            <a:pPr marL="0" indent="0" algn="just">
              <a:buNone/>
            </a:pPr>
            <a:r>
              <a:rPr lang="en-IN" dirty="0"/>
              <a:t>Year: FINAL YEAR</a:t>
            </a:r>
          </a:p>
          <a:p>
            <a:pPr marL="0" indent="0" algn="just">
              <a:buNone/>
            </a:pPr>
            <a:r>
              <a:rPr lang="en-IN" dirty="0"/>
              <a:t>Department: 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44F3C-3B2E-C164-2A0D-4DCD48E69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DEC547EE-431B-2FC1-D1EF-6D13146A6EEF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7287" y="45991"/>
            <a:ext cx="3627755" cy="7867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30" y="535226"/>
            <a:ext cx="8229600" cy="457199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676" y="910114"/>
            <a:ext cx="8431038" cy="607144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1800" b="1" dirty="0"/>
              <a:t> Background of the research</a:t>
            </a:r>
            <a:endParaRPr lang="en-US" sz="1800" b="1" dirty="0"/>
          </a:p>
          <a:p>
            <a:pPr algn="just">
              <a:defRPr/>
            </a:pPr>
            <a:r>
              <a:rPr lang="en-US" sz="1600" dirty="0"/>
              <a:t>Financial markets have </a:t>
            </a:r>
            <a:r>
              <a:rPr lang="en-IN" sz="1600" dirty="0"/>
              <a:t>evolved into</a:t>
            </a:r>
            <a:r>
              <a:rPr lang="en-US" sz="1600" dirty="0"/>
              <a:t> highly complex systems influenced by globalization, digitalization, and financial innovation.</a:t>
            </a:r>
          </a:p>
          <a:p>
            <a:pPr algn="just">
              <a:defRPr/>
            </a:pPr>
            <a:r>
              <a:rPr lang="en-US" sz="1600" dirty="0"/>
              <a:t>Stock price movements exhibit nonlinear behavior, making them difficult to predict using traditional linear statistical models.</a:t>
            </a:r>
          </a:p>
          <a:p>
            <a:pPr algn="just">
              <a:defRPr/>
            </a:pPr>
            <a:r>
              <a:rPr lang="en-US" sz="1600" dirty="0"/>
              <a:t>Market volatility has increased due to rapid information dissemination, geopolitical events, and macroeconomic uncertainties.</a:t>
            </a:r>
          </a:p>
          <a:p>
            <a:pPr algn="just">
              <a:defRPr/>
            </a:pPr>
            <a:r>
              <a:rPr lang="en-US" sz="1600" dirty="0"/>
              <a:t>Global interconnectedness allows economic events in one country to quickly impact international financial markets.</a:t>
            </a:r>
          </a:p>
          <a:p>
            <a:pPr algn="just"/>
            <a:r>
              <a:rPr lang="en-US" sz="1600" dirty="0"/>
              <a:t>Technological advancements such as algorithmic trading and high-frequency trading (HFT) have significantly accelerated trading speed and volume.</a:t>
            </a:r>
          </a:p>
          <a:p>
            <a:pPr algn="just"/>
            <a:r>
              <a:rPr lang="en-US" sz="1600" dirty="0"/>
              <a:t>The continuous generation of large-scale financial time-series data requires advanced data analytics and computational techniques for effective analysis.</a:t>
            </a:r>
          </a:p>
          <a:p>
            <a:pPr algn="just"/>
            <a:r>
              <a:rPr lang="en-US" sz="1600" dirty="0"/>
              <a:t>Growing participation of institutional investors, hedge funds, and retail investors has increased market competition and unpredictability.</a:t>
            </a:r>
          </a:p>
          <a:p>
            <a:pPr algn="just"/>
            <a:r>
              <a:rPr lang="en-US" sz="1600" dirty="0"/>
              <a:t>Automated trading systems and AI-driven decision models contribute to faster market reactions but also introduce systemic risks.</a:t>
            </a:r>
          </a:p>
          <a:p>
            <a:pPr algn="just"/>
            <a:r>
              <a:rPr lang="en-US" sz="1600" dirty="0"/>
              <a:t>Financial market patterns have become increasingly irregular and dynamic, reducing the reliability of historical trend-based forecasting.</a:t>
            </a:r>
          </a:p>
          <a:p>
            <a:pPr algn="just"/>
            <a:r>
              <a:rPr lang="en-US" sz="1600" dirty="0"/>
              <a:t>As a result, prediction risk and uncertainty in stock price forecasting have intensified, requiring advanced machine learning and deep learning approaches.</a:t>
            </a:r>
          </a:p>
          <a:p>
            <a:pPr marL="0" indent="0" algn="just">
              <a:buNone/>
            </a:pPr>
            <a:endParaRPr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26DB0F-A02A-0C86-E181-486ED3248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6B843981-9FF8-1F4A-AE94-423B5D2604D3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775113" cy="7561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F5CF2-E579-2218-C9C9-E78192C01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6343-9BA1-8E8B-5C99-7FF7162A1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4" y="573495"/>
            <a:ext cx="8229600" cy="457199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4679A-E616-3C35-E30F-ECCFF4D48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676" y="1030694"/>
            <a:ext cx="8431038" cy="58273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Problem Statement:</a:t>
            </a:r>
          </a:p>
          <a:p>
            <a:r>
              <a:rPr lang="en-US" sz="1800" dirty="0"/>
              <a:t>Design a deep learning–based system capable of accurately forecasting future stock price movements using historical financial time-series data.</a:t>
            </a:r>
          </a:p>
          <a:p>
            <a:r>
              <a:rPr lang="en-US" sz="1800" dirty="0"/>
              <a:t>Address the challenges of nonlinear patterns, volatility, and noise present in stock market data.</a:t>
            </a:r>
          </a:p>
          <a:p>
            <a:r>
              <a:rPr lang="en-US" sz="1800" dirty="0"/>
              <a:t>Integrate advanced deep learning models (such as LSTM, GRU, or hybrid architectures) to improve prediction performance.</a:t>
            </a:r>
          </a:p>
          <a:p>
            <a:r>
              <a:rPr lang="en-US" sz="1800" dirty="0"/>
              <a:t>Ensure the system can handle large-scale, real-time financial datasets efficiently.</a:t>
            </a:r>
          </a:p>
          <a:p>
            <a:r>
              <a:rPr lang="en-US" sz="1800" dirty="0"/>
              <a:t>Incorporate mechanisms to reduce overfitting and enhance model generalization across different market conditions.</a:t>
            </a:r>
          </a:p>
          <a:p>
            <a:r>
              <a:rPr lang="en-US" sz="1800" dirty="0"/>
              <a:t>Develop a transparent prediction framework that explains how the model generates its outputs (model interpretability).</a:t>
            </a:r>
          </a:p>
          <a:p>
            <a:r>
              <a:rPr lang="en-US" sz="1800" dirty="0"/>
              <a:t>Provide risk analysis indicators (e.g., volatility measures, confidence intervals, trend strength) alongside predictions.</a:t>
            </a:r>
          </a:p>
          <a:p>
            <a:r>
              <a:rPr lang="en-US" sz="1800" dirty="0"/>
              <a:t>Design an interactive visualization dashboard to display historical trends, predicted values, and comparative analysis.</a:t>
            </a:r>
          </a:p>
          <a:p>
            <a:r>
              <a:rPr lang="en-US" sz="1800" dirty="0"/>
              <a:t>Enable users to explore different time frames, stocks, and prediction scenarios dynamically.</a:t>
            </a:r>
          </a:p>
          <a:p>
            <a:r>
              <a:rPr lang="en-US" sz="1800" dirty="0"/>
              <a:t>Improve user confidence by presenting clear graphical representations, performance metrics, and model accuracy evaluations.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910FE-EEE7-F41F-B080-47C05547E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F6224EC3-6DD0-81AB-8791-45611635C302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884" y="45991"/>
            <a:ext cx="3775113" cy="75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736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498FC-6C73-D61B-A2BF-48CB5102F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AE779-FB9F-9C97-E27E-D55697D84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4" y="573495"/>
            <a:ext cx="8229600" cy="457199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A0FA8-1F74-89DB-D2DE-8DD679D11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676" y="1030694"/>
            <a:ext cx="8431038" cy="607144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b="1" dirty="0"/>
              <a:t>Motivation: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To explore and analyze historical stock price data in order to identify hidden trends, seasonal patterns, and nonlinear relationships within financial markets.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To leverage deep learning techniques for capturing complex temporal dependencies that traditional statistical models often fail to detect.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To develop a robust and reliable CNN–LSTM hybrid model that combines spatial feature extraction (CNN) with temporal sequence learning (LSTM).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To improve the accuracy of future stock price predictions by integrating advanced AI-driven methodologies.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To address the challenges of volatility, noise, and irregular fluctuations in financial time-series data.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To demonstrate how AI-based models can effectively handle large-scale and high-dimensional financial datasets.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To enhance forecasting reliability and reduce prediction errors in dynamic market environments.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To provide a data-driven approach that supports smarter investment and risk management decisions.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To bridge the gap between theoretical deep learning research and practical financial market applications.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To contribute toward building intelligent financial systems that increase analytical efficiency and decision-making confidence.</a:t>
            </a:r>
          </a:p>
          <a:p>
            <a:pPr marL="0" indent="0" algn="just">
              <a:buNone/>
            </a:pPr>
            <a:endParaRPr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AB35E9-E7BB-2CEA-B87A-9C3C0B91D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63CCBB4F-2D63-2F78-5D28-CD85314D023F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884" y="45991"/>
            <a:ext cx="3775113" cy="75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22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582D9-23BB-D6B6-DF49-5A86CD82D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DD22-B386-AE30-F6AF-388ADF9AB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732" y="569120"/>
            <a:ext cx="8229600" cy="457199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chemeClr val="tx2"/>
                </a:solidFill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44401-E992-F05B-BA7C-D621DB5E5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80378"/>
            <a:ext cx="8229600" cy="577762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b="1" dirty="0"/>
              <a:t>Overview of Existing Works</a:t>
            </a:r>
          </a:p>
          <a:p>
            <a:pPr algn="just"/>
            <a:r>
              <a:rPr lang="en-US" sz="1700" dirty="0"/>
              <a:t>Several research studies and predictive systems have explored the use of machine learning and deep learning techniques for stock market forecasting.</a:t>
            </a:r>
          </a:p>
          <a:p>
            <a:pPr algn="just"/>
            <a:r>
              <a:rPr lang="en-US" sz="1700" dirty="0"/>
              <a:t>Early stock price prediction models were primarily based on traditional statistical methods.</a:t>
            </a:r>
          </a:p>
          <a:p>
            <a:pPr algn="just"/>
            <a:r>
              <a:rPr lang="en-US" sz="1700" dirty="0"/>
              <a:t>These conventional approaches often relied on rule-based systems for decision-making.</a:t>
            </a:r>
          </a:p>
          <a:p>
            <a:pPr algn="just"/>
            <a:r>
              <a:rPr lang="en-US" sz="1700" dirty="0"/>
              <a:t>Technical indicators such as Moving Averages (MA), Relative Strength Index (RSI), and Moving Average Convergence Divergence (MACD) were widely used as input features.</a:t>
            </a:r>
          </a:p>
          <a:p>
            <a:pPr algn="just"/>
            <a:r>
              <a:rPr lang="en-US" sz="1700" dirty="0"/>
              <a:t>These models were effective in analyzing historical price data and identifying basic trends.</a:t>
            </a:r>
          </a:p>
          <a:p>
            <a:pPr algn="just"/>
            <a:r>
              <a:rPr lang="en-US" sz="1700" dirty="0"/>
              <a:t>However, they mainly focused on linear relationships within financial time-series data.</a:t>
            </a:r>
          </a:p>
          <a:p>
            <a:pPr algn="just"/>
            <a:r>
              <a:rPr lang="en-US" sz="1700" dirty="0"/>
              <a:t>Such approaches had limited capability in capturing complex nonlinear market patterns.</a:t>
            </a:r>
          </a:p>
          <a:p>
            <a:pPr algn="just"/>
            <a:r>
              <a:rPr lang="en-US" sz="1700" dirty="0"/>
              <a:t>They also struggled to adapt to rapidly changing and dynamic market conditions.</a:t>
            </a:r>
          </a:p>
          <a:p>
            <a:pPr algn="just"/>
            <a:r>
              <a:rPr lang="en-US" sz="1700" dirty="0"/>
              <a:t>As a result, their prediction accuracy was often inconsistent during periods of high volatility.</a:t>
            </a:r>
          </a:p>
          <a:p>
            <a:pPr algn="just"/>
            <a:r>
              <a:rPr lang="en-US" sz="1700" dirty="0"/>
              <a:t>These limitations created the need for more advanced machine learning and deep learning-based forecasting models.</a:t>
            </a:r>
            <a:endParaRPr sz="17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83276-59A0-9924-CD40-16AC222D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D58E25D0-8F14-9664-CA8D-C2EEFFDE123F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614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732" y="569120"/>
            <a:ext cx="8229600" cy="457199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chemeClr val="tx2"/>
                </a:solidFill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0378"/>
            <a:ext cx="8229600" cy="577762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b="1" dirty="0"/>
              <a:t>Research Gap Identification</a:t>
            </a:r>
          </a:p>
          <a:p>
            <a:pPr algn="just"/>
            <a:r>
              <a:rPr lang="en-US" sz="1600" dirty="0"/>
              <a:t>Most existing AI-based trading systems operate as black-box models, providing predictions without explaining how decisions are derived.</a:t>
            </a:r>
          </a:p>
          <a:p>
            <a:pPr algn="just"/>
            <a:r>
              <a:rPr lang="en-US" sz="1600" dirty="0"/>
              <a:t>The lack of model interpretability reduces transparency and limits user trust in AI-driven forecasting systems.</a:t>
            </a:r>
          </a:p>
          <a:p>
            <a:pPr algn="just"/>
            <a:r>
              <a:rPr lang="en-US" sz="1600" dirty="0"/>
              <a:t>Many current visualization dashboards are static in nature and do not offer interactive or exploratory analytical features.</a:t>
            </a:r>
          </a:p>
          <a:p>
            <a:pPr algn="just"/>
            <a:r>
              <a:rPr lang="en-US" sz="1600" dirty="0"/>
              <a:t>Existing systems often fail to provide deep analytical insights such as confidence levels, uncertainty ranges, or risk indicators.</a:t>
            </a:r>
          </a:p>
          <a:p>
            <a:pPr algn="just"/>
            <a:r>
              <a:rPr lang="en-US" sz="1600" dirty="0"/>
              <a:t>There is limited integration of diverse data sources, including technical indicators, fundamental financial data, and market sentiment analysis.</a:t>
            </a:r>
          </a:p>
          <a:p>
            <a:pPr algn="just"/>
            <a:r>
              <a:rPr lang="en-US" sz="1600" dirty="0"/>
              <a:t>Most models rely primarily on historical price data, ignoring multi-dimensional financial information.</a:t>
            </a:r>
          </a:p>
          <a:p>
            <a:pPr algn="just"/>
            <a:r>
              <a:rPr lang="en-US" sz="1600" dirty="0"/>
              <a:t>The absence of unified frameworks that combine prediction, explainability, and visualization reduces practical usability.</a:t>
            </a:r>
          </a:p>
          <a:p>
            <a:pPr algn="just"/>
            <a:r>
              <a:rPr lang="en-US" sz="1600" dirty="0"/>
              <a:t>Current systems do not sufficiently support user-driven analysis through customizable time frames and scenario testing.</a:t>
            </a:r>
          </a:p>
          <a:p>
            <a:pPr algn="just"/>
            <a:r>
              <a:rPr lang="en-US" sz="1600" dirty="0"/>
              <a:t>Risk awareness features such as volatility metrics and predictive reliability scores are often missing.</a:t>
            </a:r>
          </a:p>
          <a:p>
            <a:pPr algn="just"/>
            <a:r>
              <a:rPr lang="en-US" sz="1600" dirty="0"/>
              <a:t>These limitations highlight the need for an integrated, transparent, and interactive deep learning-based stock prediction system.</a:t>
            </a:r>
            <a:endParaRPr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A6010F-D0C4-8A98-0D02-A569E8112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1396CFB8-C427-7BDE-75D8-DEA83FFE530C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978F7-EBD7-CDFD-A757-CF4259BD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D5838-BF5C-B82E-5A25-0C9A43709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732" y="569120"/>
            <a:ext cx="8229600" cy="457199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chemeClr val="tx2"/>
                </a:solidFill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92235-5C24-F4E6-E0B1-173F7A2FE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80378"/>
            <a:ext cx="8229600" cy="577762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b="1" dirty="0"/>
              <a:t>Key Findings from Past Studies</a:t>
            </a:r>
          </a:p>
          <a:p>
            <a:pPr algn="just"/>
            <a:r>
              <a:rPr lang="en-US" sz="1600" dirty="0"/>
              <a:t>AI-based trading systems have demonstrated superior performance compared to manual trading strategies under controlled and optimized conditions.</a:t>
            </a:r>
          </a:p>
          <a:p>
            <a:pPr algn="just"/>
            <a:r>
              <a:rPr lang="en-US" sz="1600" dirty="0"/>
              <a:t>Machine learning and deep learning models show improved predictive capability when trained on large-scale historical financial datasets.</a:t>
            </a:r>
          </a:p>
          <a:p>
            <a:pPr algn="just"/>
            <a:r>
              <a:rPr lang="en-US" sz="1600" dirty="0"/>
              <a:t>Deep learning architectures, particularly Long Short-Term Memory (LSTM) networks, are highly effective in modeling sequential and time-series financial data.</a:t>
            </a:r>
          </a:p>
          <a:p>
            <a:pPr algn="just"/>
            <a:r>
              <a:rPr lang="en-US" sz="1600" dirty="0"/>
              <a:t>LSTM models outperform traditional statistical models in capturing long-term dependencies and nonlinear patterns in stock price movements.</a:t>
            </a:r>
          </a:p>
          <a:p>
            <a:pPr algn="just"/>
            <a:r>
              <a:rPr lang="en-US" sz="1600" dirty="0"/>
              <a:t>Hybrid models combining CNN and LSTM further enhance feature extraction and temporal learning performance.</a:t>
            </a:r>
          </a:p>
          <a:p>
            <a:pPr algn="just"/>
            <a:r>
              <a:rPr lang="en-US" sz="1600" dirty="0"/>
              <a:t>Automated trading systems significantly reduce emotional bias, such as fear and greed, which often affect human decision-making.</a:t>
            </a:r>
          </a:p>
          <a:p>
            <a:pPr algn="just"/>
            <a:r>
              <a:rPr lang="en-US" sz="1600" dirty="0"/>
              <a:t>Algorithmic trading improves execution speed and ensures timely order placement in volatile market conditions.</a:t>
            </a:r>
          </a:p>
          <a:p>
            <a:pPr algn="just"/>
            <a:r>
              <a:rPr lang="en-US" sz="1600" dirty="0"/>
              <a:t>AI-driven systems can process vast amounts of structured and unstructured financial data more efficiently than manual analysis.</a:t>
            </a:r>
          </a:p>
          <a:p>
            <a:pPr algn="just"/>
            <a:r>
              <a:rPr lang="en-US" sz="1600" dirty="0"/>
              <a:t>Incorporating technical indicators and historical trends enhances prediction robustness.</a:t>
            </a:r>
          </a:p>
          <a:p>
            <a:pPr algn="just"/>
            <a:r>
              <a:rPr lang="en-US" sz="1600" dirty="0"/>
              <a:t>Despite improvements in accuracy, many studies highlight the need for better interpretability and transparency in AI-based forecasting systems.</a:t>
            </a:r>
            <a:endParaRPr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725109-13E9-C1CA-FCF6-3E4B013A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61C02686-C36C-6212-0C0F-CE78A42D05E1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27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280" y="685705"/>
            <a:ext cx="8229600" cy="457199"/>
          </a:xfrm>
        </p:spPr>
        <p:txBody>
          <a:bodyPr>
            <a:normAutofit fontScale="90000"/>
          </a:bodyPr>
          <a:lstStyle/>
          <a:p>
            <a:r>
              <a:rPr sz="4000" b="1" dirty="0">
                <a:solidFill>
                  <a:schemeClr val="tx2"/>
                </a:solidFill>
              </a:rPr>
              <a:t>Research</a:t>
            </a:r>
            <a:r>
              <a:rPr dirty="0"/>
              <a:t> </a:t>
            </a:r>
            <a:r>
              <a:rPr sz="4000" b="1" dirty="0">
                <a:solidFill>
                  <a:schemeClr val="tx2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05"/>
            <a:ext cx="8229600" cy="566910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/>
              <a:t>Primary Objectives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To design and develop an </a:t>
            </a:r>
            <a:r>
              <a:rPr lang="en-US" sz="1800" b="1" dirty="0"/>
              <a:t>AI-based stock price prediction system</a:t>
            </a:r>
            <a:r>
              <a:rPr lang="en-US" sz="1800" dirty="0"/>
              <a:t> using deep learning techniques.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To integrate a </a:t>
            </a:r>
            <a:r>
              <a:rPr lang="en-US" sz="1800" b="1" dirty="0"/>
              <a:t>CNN–LSTM model</a:t>
            </a:r>
            <a:r>
              <a:rPr lang="en-US" sz="1800" dirty="0"/>
              <a:t> for accurate prediction of future stock price movements.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To analyze historical OHLCV data and </a:t>
            </a:r>
            <a:r>
              <a:rPr lang="en-US" sz="1800" b="1" dirty="0"/>
              <a:t>identify meaningful market patterns</a:t>
            </a:r>
            <a:r>
              <a:rPr lang="en-US" sz="1800" dirty="0"/>
              <a:t> for prediction.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To compare the proposed CNN–LSTM model with </a:t>
            </a:r>
            <a:r>
              <a:rPr lang="en-US" sz="1800" b="1" dirty="0"/>
              <a:t>traditional and standalone models</a:t>
            </a:r>
            <a:r>
              <a:rPr lang="en-US" sz="1800" dirty="0"/>
              <a:t> such as ARIMA, SVR, CNN, and LSTM.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To evaluate model performance using metrics such as </a:t>
            </a:r>
            <a:r>
              <a:rPr lang="en-US" sz="1800" b="1" dirty="0"/>
              <a:t>RMSE, MAE, MAPE, and Directional Accuracy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To assess the model’s capability to </a:t>
            </a:r>
            <a:r>
              <a:rPr lang="en-US" sz="1800" b="1" dirty="0"/>
              <a:t>forecast future prices</a:t>
            </a:r>
            <a:r>
              <a:rPr lang="en-US" sz="1800" dirty="0"/>
              <a:t> for informed decision support.</a:t>
            </a:r>
          </a:p>
          <a:p>
            <a:pPr marL="0" indent="0" algn="just">
              <a:buNone/>
            </a:pPr>
            <a:r>
              <a:rPr lang="en-US" sz="1800" b="1" dirty="0"/>
              <a:t>Expected Outcome</a:t>
            </a:r>
          </a:p>
          <a:p>
            <a:pPr algn="just"/>
            <a:r>
              <a:rPr lang="en-US" sz="1800" dirty="0"/>
              <a:t>The research is expected to deliver an </a:t>
            </a:r>
            <a:r>
              <a:rPr lang="en-US" sz="1800" b="1" dirty="0"/>
              <a:t>accurate and reliable CNN–LSTM–based stock price prediction system</a:t>
            </a:r>
            <a:r>
              <a:rPr lang="en-US" sz="1800" dirty="0"/>
              <a:t> that effectively models financial time-series data. The system will provide </a:t>
            </a:r>
            <a:r>
              <a:rPr lang="en-US" sz="1800" b="1" dirty="0"/>
              <a:t>clear visual insights</a:t>
            </a:r>
            <a:r>
              <a:rPr lang="en-US" sz="1800" dirty="0"/>
              <a:t>, improved prediction accuracy, and valuable support for data-driven investment analysis.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6A80E8-B123-4403-480B-C2B4916DD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8C503C7A-02DF-DACA-AC2A-C1C31DCA95D8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239" y="548221"/>
            <a:ext cx="8229600" cy="457199"/>
          </a:xfrm>
        </p:spPr>
        <p:txBody>
          <a:bodyPr>
            <a:noAutofit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6820"/>
            <a:ext cx="8229600" cy="5628228"/>
          </a:xfrm>
        </p:spPr>
        <p:txBody>
          <a:bodyPr>
            <a:noAutofit/>
          </a:bodyPr>
          <a:lstStyle/>
          <a:p>
            <a:pPr marL="0" indent="0">
              <a:buNone/>
            </a:pPr>
            <a:br>
              <a:rPr lang="en-US" sz="1400" dirty="0"/>
            </a:br>
            <a:endParaRPr lang="en-US" sz="1400" dirty="0"/>
          </a:p>
          <a:p>
            <a:pPr marL="0" indent="0">
              <a:buNone/>
            </a:pPr>
            <a:r>
              <a:rPr lang="en-US" sz="1800" dirty="0"/>
              <a:t>The proposed system uses both </a:t>
            </a:r>
            <a:r>
              <a:rPr lang="en-US" sz="1800" b="1" dirty="0"/>
              <a:t>historical and real-time financial market data</a:t>
            </a:r>
            <a:r>
              <a:rPr lang="en-US" sz="1800" dirty="0"/>
              <a:t> for analysis and model training.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Historical Market Data:</a:t>
            </a:r>
            <a:br>
              <a:rPr lang="en-US" sz="1800" dirty="0"/>
            </a:br>
            <a:r>
              <a:rPr lang="en-US" sz="1800" dirty="0"/>
              <a:t>Includes open price, close price, high, low, volume, and timestamp data collected from stock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Real-Time Data:</a:t>
            </a:r>
            <a:br>
              <a:rPr lang="en-US" sz="1800" dirty="0"/>
            </a:br>
            <a:r>
              <a:rPr lang="en-US" sz="1800" dirty="0"/>
              <a:t>Live price feeds obtained through broker or market APIs for real-time trading decisions.</a:t>
            </a:r>
          </a:p>
          <a:p>
            <a:pPr>
              <a:buFont typeface="Arial" panose="020B0604020202020204" pitchFamily="34" charset="0"/>
              <a:buChar char="•"/>
            </a:pPr>
            <a:endParaRPr sz="1800" dirty="0"/>
          </a:p>
          <a:p>
            <a:pPr marL="0" indent="0">
              <a:buNone/>
            </a:pPr>
            <a:r>
              <a:rPr lang="en-IN" sz="1800" b="1" dirty="0"/>
              <a:t>M</a:t>
            </a:r>
            <a:r>
              <a:rPr sz="1800" b="1" dirty="0" err="1"/>
              <a:t>odel</a:t>
            </a:r>
            <a:r>
              <a:rPr lang="en-US" sz="1800" b="1" dirty="0"/>
              <a:t> and </a:t>
            </a:r>
            <a:r>
              <a:rPr sz="1800" b="1" dirty="0"/>
              <a:t>framework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The proposed methodology follows a </a:t>
            </a:r>
            <a:r>
              <a:rPr lang="en-US" sz="1800" b="1" dirty="0"/>
              <a:t>modular AI-driven trading framework</a:t>
            </a:r>
            <a:r>
              <a:rPr lang="en-US" sz="1800" dirty="0"/>
              <a:t> consisting of the following stages: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Data Collection Module</a:t>
            </a:r>
            <a:br>
              <a:rPr lang="en-US" sz="1800" dirty="0"/>
            </a:br>
            <a:r>
              <a:rPr lang="en-US" sz="1800" dirty="0"/>
              <a:t>Gathers historical and live market data from APIs.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Data Preprocessing Module</a:t>
            </a:r>
            <a:br>
              <a:rPr lang="en-US" sz="1800" dirty="0"/>
            </a:br>
            <a:r>
              <a:rPr lang="en-US" sz="1800" dirty="0"/>
              <a:t>Cleans data, removes noise, normalizes values, and generates technical indicators.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8A2C0-3718-4352-4F78-4948A271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CB4AE54D-E8E5-61AD-CBD2-4F23B3F47366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231EE-DA1A-8648-C3F6-24BD87562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12F3A-678E-9A82-B1F1-06E3DDF97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39" y="548221"/>
            <a:ext cx="8229600" cy="457199"/>
          </a:xfrm>
        </p:spPr>
        <p:txBody>
          <a:bodyPr>
            <a:noAutofit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23ED3-AC47-A1D5-C9D2-6FC3FA9C9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76820"/>
            <a:ext cx="8229600" cy="562822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2000" b="1" dirty="0"/>
              <a:t>Tools &amp; Technologies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Programming Language:</a:t>
            </a:r>
            <a:r>
              <a:rPr lang="en-IN" sz="20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Machine Learning Libraries:</a:t>
            </a:r>
            <a:r>
              <a:rPr lang="en-IN" sz="2000" dirty="0"/>
              <a:t> </a:t>
            </a:r>
          </a:p>
          <a:p>
            <a:pPr lvl="1"/>
            <a:r>
              <a:rPr lang="en-IN" sz="2000" dirty="0"/>
              <a:t>NumPy </a:t>
            </a:r>
          </a:p>
          <a:p>
            <a:pPr lvl="1"/>
            <a:r>
              <a:rPr lang="en-IN" sz="2000"/>
              <a:t>Pandas </a:t>
            </a:r>
            <a:endParaRPr lang="en-IN" sz="2000" dirty="0"/>
          </a:p>
          <a:p>
            <a:pPr lvl="1"/>
            <a:r>
              <a:rPr lang="en-US" sz="2000" dirty="0" err="1"/>
              <a:t>yfinance</a:t>
            </a:r>
            <a:r>
              <a:rPr lang="en-US" sz="2000" dirty="0"/>
              <a:t> - for stock data collection 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Deep Learning Framework:</a:t>
            </a:r>
            <a:r>
              <a:rPr lang="en-IN" sz="20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TensorFlow(</a:t>
            </a:r>
            <a:r>
              <a:rPr lang="en-IN" sz="2000" dirty="0" err="1"/>
              <a:t>keras</a:t>
            </a:r>
            <a:r>
              <a:rPr lang="en-IN" sz="2000" dirty="0"/>
              <a:t> API)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Frontend: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 err="1"/>
              <a:t>Streamlit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Backend</a:t>
            </a:r>
            <a:r>
              <a:rPr lang="en-IN" sz="20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 err="1"/>
              <a:t>FastAPI</a:t>
            </a:r>
            <a:endParaRPr lang="en-IN" sz="2000" dirty="0"/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F919B-8574-79AE-6505-1222FAB07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FB9F0802-B7EC-5075-7877-5D64E059274C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469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E308F-F66E-3C58-D1F0-BC33606B5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6610F-6349-5A5C-A5B2-C9B01D072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041" y="421855"/>
            <a:ext cx="8229600" cy="607105"/>
          </a:xfrm>
        </p:spPr>
        <p:txBody>
          <a:bodyPr>
            <a:normAutofit fontScale="90000"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28AA4-1C7C-62CA-EDC2-1BCFBDF42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577" y="1028960"/>
            <a:ext cx="8229600" cy="569251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1600" b="1" dirty="0"/>
          </a:p>
          <a:p>
            <a:pPr algn="just"/>
            <a:r>
              <a:rPr lang="en-US" sz="2000" dirty="0"/>
              <a:t>The proposed C</a:t>
            </a:r>
            <a:r>
              <a:rPr lang="en-US" sz="2000" b="1" dirty="0"/>
              <a:t>NN–LSTM </a:t>
            </a:r>
            <a:r>
              <a:rPr lang="en-US" sz="2000" dirty="0"/>
              <a:t>based stock price prediction system follows a </a:t>
            </a:r>
            <a:r>
              <a:rPr lang="en-US" sz="2000" b="1" dirty="0"/>
              <a:t>layered and modular architecture</a:t>
            </a:r>
            <a:r>
              <a:rPr lang="en-US" sz="2000" dirty="0"/>
              <a:t> to ensure accuracy, scalability, and ease of analysis.</a:t>
            </a:r>
          </a:p>
          <a:p>
            <a:pPr marL="0" indent="0" algn="just">
              <a:buNone/>
            </a:pPr>
            <a:endParaRPr lang="en-US" sz="1600" dirty="0"/>
          </a:p>
          <a:p>
            <a:pPr marL="0" indent="0" algn="just">
              <a:buNone/>
            </a:pPr>
            <a:r>
              <a:rPr lang="en-US" sz="2000" b="1" dirty="0"/>
              <a:t>         Data Source Layer</a:t>
            </a:r>
            <a:endParaRPr lang="en-US" sz="2000" dirty="0"/>
          </a:p>
          <a:p>
            <a:pPr lvl="1" algn="just">
              <a:buFont typeface="+mj-lt"/>
              <a:buAutoNum type="arabicPeriod"/>
            </a:pPr>
            <a:r>
              <a:rPr lang="en-US" sz="2000" dirty="0"/>
              <a:t>Historical stock market data (OHLCV) collected from reliable financial sources.</a:t>
            </a:r>
          </a:p>
          <a:p>
            <a:pPr lvl="1" algn="just">
              <a:buFont typeface="+mj-lt"/>
              <a:buAutoNum type="arabicPeriod"/>
            </a:pPr>
            <a:r>
              <a:rPr lang="en-US" sz="2000" dirty="0"/>
              <a:t>Time-series data covering multiple years to capture long-term market behavior.</a:t>
            </a:r>
            <a:endParaRPr lang="en-US" sz="2000" b="1" dirty="0"/>
          </a:p>
          <a:p>
            <a:pPr marL="457200" lvl="1" indent="0" algn="just">
              <a:buNone/>
            </a:pPr>
            <a:r>
              <a:rPr lang="en-US" sz="2000" b="1" dirty="0"/>
              <a:t>Data Processing Layer</a:t>
            </a:r>
            <a:endParaRPr lang="en-US" sz="2000" dirty="0"/>
          </a:p>
          <a:p>
            <a:pPr lvl="1" algn="just">
              <a:buFont typeface="+mj-lt"/>
              <a:buAutoNum type="arabicPeriod"/>
            </a:pPr>
            <a:r>
              <a:rPr lang="en-US" sz="2000" dirty="0"/>
              <a:t>Data cleaning to handle missing values and inconsistencies.</a:t>
            </a:r>
          </a:p>
          <a:p>
            <a:pPr lvl="1" algn="just">
              <a:buFont typeface="+mj-lt"/>
              <a:buAutoNum type="arabicPeriod"/>
            </a:pPr>
            <a:r>
              <a:rPr lang="en-US" sz="2000" dirty="0"/>
              <a:t>Feature scaling and normalization using Min–Max normalization</a:t>
            </a:r>
          </a:p>
          <a:p>
            <a:pPr lvl="1" algn="just">
              <a:buFont typeface="+mj-lt"/>
              <a:buAutoNum type="arabicPeriod"/>
            </a:pPr>
            <a:r>
              <a:rPr lang="en-US" sz="2000" dirty="0"/>
              <a:t>Time-series window creation using a sliding window approach.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19BE2-62C9-2731-10E7-52BDB801B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6FF82411-187F-58F1-71EE-D4FCE73C7BAE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476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041" y="421855"/>
            <a:ext cx="8229600" cy="607105"/>
          </a:xfrm>
        </p:spPr>
        <p:txBody>
          <a:bodyPr>
            <a:normAutofit fontScale="90000"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577" y="1028960"/>
            <a:ext cx="8229600" cy="569251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1600" b="1" dirty="0"/>
          </a:p>
          <a:p>
            <a:pPr marL="457200" lvl="1" indent="0" algn="just">
              <a:buNone/>
            </a:pPr>
            <a:r>
              <a:rPr lang="en-US" sz="2000" b="1" dirty="0"/>
              <a:t>AI Prediction Layer</a:t>
            </a:r>
            <a:endParaRPr lang="en-US" sz="2000" dirty="0"/>
          </a:p>
          <a:p>
            <a:pPr lvl="1" algn="just">
              <a:buFont typeface="+mj-lt"/>
              <a:buAutoNum type="arabicPeriod"/>
            </a:pPr>
            <a:r>
              <a:rPr lang="en-US" sz="2000" dirty="0"/>
              <a:t>Deep learning models including </a:t>
            </a:r>
            <a:r>
              <a:rPr lang="en-US" sz="2000" b="1" dirty="0"/>
              <a:t>CNN, LSTM, and hybrid CNN–LSTM</a:t>
            </a:r>
            <a:r>
              <a:rPr lang="en-US" sz="2000" dirty="0"/>
              <a:t>.</a:t>
            </a:r>
          </a:p>
          <a:p>
            <a:pPr lvl="1" algn="just">
              <a:buFont typeface="+mj-lt"/>
              <a:buAutoNum type="arabicPeriod"/>
            </a:pPr>
            <a:r>
              <a:rPr lang="en-US" sz="2000" dirty="0"/>
              <a:t>CNN used for extracting local price patterns.</a:t>
            </a:r>
          </a:p>
          <a:p>
            <a:pPr lvl="1" algn="just">
              <a:buFont typeface="+mj-lt"/>
              <a:buAutoNum type="arabicPeriod"/>
            </a:pPr>
            <a:r>
              <a:rPr lang="en-US" sz="2000" dirty="0"/>
              <a:t>LSTM used for learning long-term temporal dependencies and trends.</a:t>
            </a:r>
          </a:p>
          <a:p>
            <a:pPr marL="457200" lvl="1" indent="0" algn="just">
              <a:buNone/>
            </a:pPr>
            <a:r>
              <a:rPr lang="en-US" sz="2000" b="1" dirty="0"/>
              <a:t>Strategy &amp; Decision Layer</a:t>
            </a:r>
            <a:endParaRPr lang="en-US" sz="2000" dirty="0"/>
          </a:p>
          <a:p>
            <a:pPr lvl="1" algn="just">
              <a:buFont typeface="+mj-lt"/>
              <a:buAutoNum type="arabicPeriod"/>
            </a:pPr>
            <a:r>
              <a:rPr lang="en-US" sz="2000" dirty="0"/>
              <a:t>Next-day stock price prediction based on historical patterns</a:t>
            </a:r>
          </a:p>
          <a:p>
            <a:pPr lvl="1" algn="just">
              <a:buFont typeface="+mj-lt"/>
              <a:buAutoNum type="arabicPeriod"/>
            </a:pPr>
            <a:r>
              <a:rPr lang="en-US" sz="2000" dirty="0"/>
              <a:t>Comparison of predicted and actual prices.</a:t>
            </a:r>
          </a:p>
          <a:p>
            <a:pPr lvl="1" algn="just">
              <a:buFont typeface="+mj-lt"/>
              <a:buAutoNum type="arabicPeriod"/>
            </a:pPr>
            <a:r>
              <a:rPr lang="en-US" sz="2000" dirty="0"/>
              <a:t>Performance evaluation using RMSE, MAE, MAPE, and Directional Accuracy.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7FA581-808A-0B72-EEFE-103FED2D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CA9418BA-4AE6-5853-1F98-760EC6F9353C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876B7-664E-8887-5CFB-5514E3C5D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841EC-9846-CC0C-DF55-F8EB31404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995" y="447356"/>
            <a:ext cx="8229600" cy="606711"/>
          </a:xfrm>
        </p:spPr>
        <p:txBody>
          <a:bodyPr>
            <a:normAutofit fontScale="90000"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Results and Discussion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127435-1F60-2338-0F15-31294FC1C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FB9794E0-12C0-0618-23A7-29FDEACCC930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4658EC17-D521-D57B-B720-24E69E901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405" y="1054067"/>
            <a:ext cx="885319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Key Findings (with Graphs / Tables / Visualizations)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The performance of the proposed </a:t>
            </a:r>
            <a:r>
              <a:rPr lang="en-US" sz="1600" b="1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CNN–LSTM–based stock price prediction model</a:t>
            </a:r>
            <a:r>
              <a:rPr lang="en-US" sz="1600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 was evaluated using historical INFY stock data, with the test period spanning </a:t>
            </a:r>
            <a:r>
              <a:rPr lang="en-US" sz="1600" b="1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2025–2026</a:t>
            </a:r>
            <a:r>
              <a:rPr lang="en-US" sz="1600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The experimental results indicate that the </a:t>
            </a:r>
            <a:r>
              <a:rPr lang="en-IN" sz="1600" b="1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hybrid CNN–LSTM model consistently outperformed traditional and standalone models</a:t>
            </a:r>
            <a:r>
              <a:rPr lang="en-IN" sz="1600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, including ARIMA, SVR, CNN, and LSTM, across all evaluation metrics.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Time-series prediction models (such as LSTM) showed improved accuracy in identifying market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The analysis dashboard successfully visualized: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Real-time profit and loss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Trade entry and exit points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Strategy-wise performance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Risk metrics such as drawdown and win rate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26B21F52-18F2-51C2-77BD-0259C7C99F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5941000"/>
              </p:ext>
            </p:extLst>
          </p:nvPr>
        </p:nvGraphicFramePr>
        <p:xfrm>
          <a:off x="457200" y="4089400"/>
          <a:ext cx="8229600" cy="2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19539973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41593611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031202919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985642119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65971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Proposed AI System</a:t>
                      </a:r>
                      <a:endParaRPr lang="en-IN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Very High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High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High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High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412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LLM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442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Decision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Risk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Transparency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1193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SVM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838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CNN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7505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LLM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601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0315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FF44B-0DCD-EAC8-CEC7-8F6E69D4E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03682-BF74-EB44-0D8C-6931DDF4E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995" y="447356"/>
            <a:ext cx="8229600" cy="606711"/>
          </a:xfrm>
        </p:spPr>
        <p:txBody>
          <a:bodyPr>
            <a:normAutofit fontScale="90000"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Results and Discussion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173FB-B716-FBF7-2120-51974B07F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3344166A-3392-064E-A59E-53FB3A029A0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51237BA3-3D3A-F079-430E-A6BEAB3B7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405" y="-84703"/>
            <a:ext cx="885319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Key Findings (with Graphs / Tables / Visualizations)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The performance of the proposed </a:t>
            </a:r>
            <a:r>
              <a:rPr lang="en-US" sz="2000" b="1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CNN–LSTM–based stock price prediction model</a:t>
            </a:r>
            <a:r>
              <a:rPr lang="en-US" sz="2000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 was evaluated using historical INFY stock data, with the test period spanning   </a:t>
            </a:r>
            <a:r>
              <a:rPr lang="en-US" sz="2000" b="1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2025–2026</a:t>
            </a:r>
            <a:r>
              <a:rPr lang="en-US" sz="2000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000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The experimental results indicate that the </a:t>
            </a:r>
            <a:r>
              <a:rPr lang="en-IN" sz="2000" b="1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hybrid CNN–LSTM model consistently outperformed traditional and standalone models</a:t>
            </a:r>
            <a:r>
              <a:rPr lang="en-IN" sz="2000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, including ARIMA, SVR, CNN, and LSTM, across all evaluation metrics.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Time-series prediction models (such as LSTM) showed improved accuracy in identifying market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The analysis dashboard successfully visualized: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Real-time profit and loss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Trade entry and exit points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Strategy-wise performance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Risk metrics such as drawdown and win rate</a:t>
            </a:r>
          </a:p>
        </p:txBody>
      </p:sp>
    </p:spTree>
    <p:extLst>
      <p:ext uri="{BB962C8B-B14F-4D97-AF65-F5344CB8AC3E}">
        <p14:creationId xmlns:p14="http://schemas.microsoft.com/office/powerpoint/2010/main" val="1342830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854" y="633973"/>
            <a:ext cx="8229600" cy="457199"/>
          </a:xfrm>
        </p:spPr>
        <p:txBody>
          <a:bodyPr>
            <a:noAutofit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279" y="1296141"/>
            <a:ext cx="8229600" cy="58548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Summary of Contributions</a:t>
            </a:r>
          </a:p>
          <a:p>
            <a:r>
              <a:rPr lang="en-US" sz="1500" dirty="0"/>
              <a:t>Successfully designed and implemented a hybrid CNN–LSTM–based stock price prediction system for forecasting INFY stock prices using historical time-series data.</a:t>
            </a:r>
          </a:p>
          <a:p>
            <a:r>
              <a:rPr lang="en-US" sz="1500" dirty="0"/>
              <a:t>Developed a deep learning architecture that integrates Convolutional Neural Networks (CNN) for short-term pattern extraction and Long Short-Term Memory (LSTM) networks for long-term trend modeling.</a:t>
            </a:r>
          </a:p>
          <a:p>
            <a:r>
              <a:rPr lang="en-US" sz="1500" dirty="0"/>
              <a:t>Enabled the model to capture both local price fluctuations and broader market trends effectively.</a:t>
            </a:r>
          </a:p>
          <a:p>
            <a:r>
              <a:rPr lang="en-US" sz="1500" dirty="0"/>
              <a:t>Improved prediction accuracy by combining spatial feature extraction with sequential learning mechanisms.</a:t>
            </a:r>
          </a:p>
          <a:p>
            <a:r>
              <a:rPr lang="en-US" sz="1500" dirty="0"/>
              <a:t>Applied advanced preprocessing techniques such as data normalization and time-series windowing to enhance model performance.</a:t>
            </a:r>
          </a:p>
          <a:p>
            <a:r>
              <a:rPr lang="en-US" sz="1500" dirty="0"/>
              <a:t>Demonstrated the effectiveness of hybrid deep learning models in handling complex and nonlinear financial data.</a:t>
            </a:r>
          </a:p>
          <a:p>
            <a:r>
              <a:rPr lang="en-US" sz="1500" dirty="0"/>
              <a:t>Validated model performance using appropriate evaluation metrics such as Mean Squared Error (MSE) and Root Mean Squared Error (RMSE).</a:t>
            </a:r>
          </a:p>
          <a:p>
            <a:r>
              <a:rPr lang="en-US" sz="1500" dirty="0"/>
              <a:t>Provided a scalable framework that can be extended to other stocks or financial instruments.</a:t>
            </a:r>
          </a:p>
          <a:p>
            <a:r>
              <a:rPr lang="en-US" sz="1500" dirty="0"/>
              <a:t>Showcased the practical applicability of AI-driven forecasting systems in real-world stock market analysis.</a:t>
            </a:r>
          </a:p>
          <a:p>
            <a:r>
              <a:rPr lang="en-US" sz="1500" dirty="0"/>
              <a:t>Contributed to bridging the gap between deep learning research and intelligent financial decision-support systems.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1F4A09-2201-72D2-1755-2EF406F3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BBA2957B-2A06-E1D9-4CD7-BDDF4FBD747F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5C1FF-8A25-62A3-659F-51A35943A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8AE11-1914-C521-1CF6-3A395ADDB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54" y="633973"/>
            <a:ext cx="8229600" cy="457199"/>
          </a:xfrm>
        </p:spPr>
        <p:txBody>
          <a:bodyPr>
            <a:noAutofit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5FBA9-6094-FF8E-B4EA-DDFF240A1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279" y="1296141"/>
            <a:ext cx="8229600" cy="58548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Limitations</a:t>
            </a:r>
          </a:p>
          <a:p>
            <a:r>
              <a:rPr lang="en-US" sz="1600" dirty="0"/>
              <a:t>The performance of the proposed CNN–LSTM model is highly dependent on the quality, accuracy, and volume of historical stock price data used for training.</a:t>
            </a:r>
          </a:p>
          <a:p>
            <a:r>
              <a:rPr lang="en-US" sz="1600" dirty="0"/>
              <a:t>Incomplete, noisy, or insufficient datasets may negatively impact prediction accuracy and model generalization.</a:t>
            </a:r>
          </a:p>
          <a:p>
            <a:r>
              <a:rPr lang="en-US" sz="1600" dirty="0"/>
              <a:t>Sudden market events such as economic crises, policy changes, geopolitical conflicts, or unexpected corporate announcements can significantly affect prediction reliability.</a:t>
            </a:r>
          </a:p>
          <a:p>
            <a:r>
              <a:rPr lang="en-US" sz="1600" dirty="0"/>
              <a:t>The model may struggle to accurately forecast prices during periods of extreme market volatility or black swan events.</a:t>
            </a:r>
          </a:p>
          <a:p>
            <a:r>
              <a:rPr lang="en-US" sz="1600" dirty="0"/>
              <a:t>The current system primarily relies on historical time-series data and may not fully capture real-time external market influences.</a:t>
            </a:r>
          </a:p>
          <a:p>
            <a:r>
              <a:rPr lang="en-US" sz="1600" dirty="0"/>
              <a:t>Integration of sentiment analysis (e.g., news or social media data) is limited and can be further enhanced for better contextual understanding.</a:t>
            </a:r>
          </a:p>
          <a:p>
            <a:r>
              <a:rPr lang="en-US" sz="1600" dirty="0"/>
              <a:t>The model may require periodic retraining to adapt to changing market conditions.</a:t>
            </a:r>
          </a:p>
          <a:p>
            <a:r>
              <a:rPr lang="en-US" sz="1600" dirty="0"/>
              <a:t>Overfitting remains a potential risk if the model is not carefully tuned and validated.</a:t>
            </a:r>
          </a:p>
          <a:p>
            <a:r>
              <a:rPr lang="en-US" sz="1600" dirty="0"/>
              <a:t>Computational complexity and training time can be high due to deep learning architecture requirements.</a:t>
            </a:r>
          </a:p>
          <a:p>
            <a:r>
              <a:rPr lang="en-US" sz="1600" dirty="0"/>
              <a:t>The system currently focuses on a single stock (INFY) and may require adjustments before applying it to multiple stocks or broader markets.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81FE1D-373A-A669-F02F-B789BB50A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35FB2598-194F-AF48-4746-316CE82AC6DA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75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53051-D069-E09A-E3C8-A4B6A9EF6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B7A9-9DB9-3E40-E40E-BC4BA1D1F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54" y="633973"/>
            <a:ext cx="8229600" cy="457199"/>
          </a:xfrm>
        </p:spPr>
        <p:txBody>
          <a:bodyPr>
            <a:noAutofit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B8FA2-6D10-D9DC-43B3-E721626C8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279" y="1296141"/>
            <a:ext cx="8229600" cy="58548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Future Research Directions</a:t>
            </a:r>
          </a:p>
          <a:p>
            <a:r>
              <a:rPr lang="en-US" sz="1500" dirty="0"/>
              <a:t>Integration of advanced deep learning architectures such as Transformers to better capture long-range dependencies and complex temporal relationships in financial time-series data.</a:t>
            </a:r>
          </a:p>
          <a:p>
            <a:r>
              <a:rPr lang="en-US" sz="1500" dirty="0"/>
              <a:t>Exploration of Reinforcement Learning techniques to enable adaptive trading strategies that learn optimal buy/sell decisions through market interaction.</a:t>
            </a:r>
          </a:p>
          <a:p>
            <a:r>
              <a:rPr lang="en-US" sz="1500" dirty="0"/>
              <a:t>Incorporation of real-time news feeds and social media sentiment analysis to enhance contextual understanding of market movements.</a:t>
            </a:r>
          </a:p>
          <a:p>
            <a:r>
              <a:rPr lang="en-US" sz="1500" dirty="0"/>
              <a:t>Development of multi-modal learning frameworks that combine technical indicators, fundamental data, and sentiment features within a unified predictive system.</a:t>
            </a:r>
          </a:p>
          <a:p>
            <a:r>
              <a:rPr lang="en-US" sz="1500" dirty="0"/>
              <a:t>Extension of the current model to support multi-stock prediction and portfolio-level forecasting.</a:t>
            </a:r>
          </a:p>
          <a:p>
            <a:r>
              <a:rPr lang="en-US" sz="1500" dirty="0"/>
              <a:t>Expansion of the framework to sector-wide or market index prediction models for broader financial analysis.</a:t>
            </a:r>
          </a:p>
          <a:p>
            <a:r>
              <a:rPr lang="en-US" sz="1500" dirty="0"/>
              <a:t>Implementation of explainable AI (XAI) techniques to improve model transparency and user trust.</a:t>
            </a:r>
          </a:p>
          <a:p>
            <a:r>
              <a:rPr lang="en-US" sz="1500" dirty="0"/>
              <a:t>Enhancement of real-time data processing capabilities for live prediction and dynamic dashboard updates.</a:t>
            </a:r>
          </a:p>
          <a:p>
            <a:r>
              <a:rPr lang="en-US" sz="1500" dirty="0"/>
              <a:t>Integration of risk management modules, including volatility forecasting and confidence interval estimation.</a:t>
            </a:r>
          </a:p>
          <a:p>
            <a:r>
              <a:rPr lang="en-US" sz="1500" dirty="0"/>
              <a:t>Deployment of the system as a scalable web or cloud-based application for wider accessibility and practical adoption.</a:t>
            </a:r>
            <a:endParaRPr sz="15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EA438B-0A0A-2547-2673-5C495AF32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766B82BE-7902-A153-CADE-5737F251E2A9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252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755" y="669025"/>
            <a:ext cx="8229600" cy="573661"/>
          </a:xfrm>
        </p:spPr>
        <p:txBody>
          <a:bodyPr>
            <a:noAutofit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78D40-C64A-CC2D-0015-67ABE9DA0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F4F19D68-2656-891D-8DBF-F21393CCB970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A8E7FA19-E41F-4A26-8392-8B1D652FB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00" y="1275750"/>
            <a:ext cx="8333500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400" b="1" dirty="0"/>
              <a:t>1)</a:t>
            </a:r>
            <a:r>
              <a:rPr lang="en-US" sz="1400" b="1" dirty="0" err="1"/>
              <a:t>ZReddy</a:t>
            </a:r>
            <a:r>
              <a:rPr lang="en-US" sz="1400" b="1" dirty="0"/>
              <a:t>, P., et al. (2024). Mesas, M. B. (2025). </a:t>
            </a:r>
            <a:r>
              <a:rPr lang="en-US" sz="1400" dirty="0"/>
              <a:t>Investigation of fore- casting model designed to evaluate financial trends (Doctoral     dissertation, Kauno technologist universitates.). Applied Soft Computing, 152, 111234.</a:t>
            </a:r>
          </a:p>
          <a:p>
            <a:pPr lvl="0"/>
            <a:r>
              <a:rPr lang="en-US" sz="1400" b="1" dirty="0"/>
              <a:t>https://doi.org/10.1016/j.asoc.2023.111234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2)Zhang, W., et al. (2025). Ramos, F., Silva, G., Luz, E., Silva, P. (2023, September). </a:t>
            </a:r>
            <a:r>
              <a:rPr lang="en-US" sz="1400" dirty="0"/>
              <a:t>Enhancing Stock Market Predictions Through the Integration of Convolutional and Recursive LSTM Blocks: A Cross- market Analysis. In Brazilian Conference on Intelligent Systems (pp. 92- 106). Cham: Springer Nature Switzerland. International Journal of Fore- casting, 41(1), 210–225. </a:t>
            </a:r>
            <a:r>
              <a:rPr lang="en-US" sz="1400" b="1" dirty="0"/>
              <a:t>https://doi.org/10.1016/j.ijforecast.2024.06.003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3)Gupta, A., et al. (2025). Singh, P., Jha, M., Sharaf, M., El-Meling, M. A., Gadek Allu, T. R. (2023). </a:t>
            </a:r>
            <a:r>
              <a:rPr lang="en-US" sz="1400" dirty="0"/>
              <a:t>Harnessing a hybrid CNN-LSTM model for portfolio performance: A case study on stock selection and optimization. </a:t>
            </a:r>
            <a:r>
              <a:rPr lang="en-US" sz="1400" dirty="0" err="1"/>
              <a:t>Ieee</a:t>
            </a:r>
            <a:r>
              <a:rPr lang="en-US" sz="1400" dirty="0"/>
              <a:t> Access, 11, 104000-104015. Quantitative Finance, 25(2), 301–318. </a:t>
            </a:r>
            <a:r>
              <a:rPr lang="en-US" sz="1400" b="1" dirty="0"/>
              <a:t>https://doi.org/10.1080/14697688.2024.2401234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4)Wang, L., et al. (2025). Patel, N., Vasani, N., Jadav, N. K., Gupta, R., Tanwar, S., Polkowski, Z., ... Gafar, A. (2023). </a:t>
            </a:r>
            <a:r>
              <a:rPr lang="en-US" sz="1400" dirty="0"/>
              <a:t>F-LSTM: Federated learning-based LSTM framework for cryptocurrency price prediction. Electronic Research Archive, 31(10). ACM Transactions on Intelligent Systems and Technology, 16(1), Article 12. </a:t>
            </a:r>
            <a:r>
              <a:rPr lang="en-US" sz="1400" b="1" dirty="0"/>
              <a:t>https://doi.org/10.1145/ 3638521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5)Ali, S., et al. (2025).Zhu, R., Zhong, G. Y., Li, J. C. (2024). </a:t>
            </a:r>
            <a:r>
              <a:rPr lang="en-US" sz="1400" dirty="0"/>
              <a:t>Forecasting price in a new hybrid neural network model with machine learning. Ex- pert Systems with Applications, 249, 123697. Journal of Computational Finance, 28(3), 45–78. </a:t>
            </a:r>
            <a:r>
              <a:rPr lang="en-US" sz="1400" b="1" dirty="0"/>
              <a:t>https://doi.org/10.21314/JCF.2024.012</a:t>
            </a:r>
            <a:endParaRPr lang="en-IN" sz="14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E9EE3-B45B-4E5E-5596-96ECB9712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183C9-DAC3-1079-BA27-477D6F508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755" y="669025"/>
            <a:ext cx="8229600" cy="573661"/>
          </a:xfrm>
        </p:spPr>
        <p:txBody>
          <a:bodyPr>
            <a:noAutofit/>
          </a:bodyPr>
          <a:lstStyle/>
          <a:p>
            <a:r>
              <a:rPr sz="36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DF3A18-2CDC-0B9B-80B5-8CE7634E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B4B7D205-2489-BB35-7691-F6A4BDA26E86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F59AD5B4-899E-2D2F-BBA6-32CAB34B5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00" y="1329611"/>
            <a:ext cx="8333500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500" b="1" dirty="0"/>
              <a:t>6)Mehta, D., et al. (2024). Fan, C., Chen, H. (2025). </a:t>
            </a:r>
            <a:r>
              <a:rPr lang="en-US" sz="1500" dirty="0"/>
              <a:t>Research on explain- able Artificial Intelligence in the CNN-LSTM hybrid model for energy forecasting. Journal of Building Engineering, 113150. Decision Support Systems, 176, 114089. </a:t>
            </a:r>
            <a:r>
              <a:rPr lang="en-US" sz="1500" b="1" dirty="0"/>
              <a:t>https://doi.org/10.1016/j.dss.2023.114089</a:t>
            </a:r>
          </a:p>
          <a:p>
            <a:pPr lvl="0"/>
            <a:endParaRPr lang="en-US" sz="1500" dirty="0"/>
          </a:p>
          <a:p>
            <a:pPr lvl="0"/>
            <a:r>
              <a:rPr lang="en-US" sz="1500" b="1" dirty="0"/>
              <a:t>7)Chen, H., et al. (2024). Masood, Z., Ganassi, R., Choi, Y. (2022).</a:t>
            </a:r>
            <a:r>
              <a:rPr lang="en-US" sz="1500" dirty="0"/>
              <a:t> A multi-step time-series clustering-based Seq2Seq LSTM learning for a single household electricity load forecasting. Energies, 15(7), 2623.</a:t>
            </a:r>
          </a:p>
          <a:p>
            <a:pPr lvl="0"/>
            <a:r>
              <a:rPr lang="en-US" sz="1500" dirty="0"/>
              <a:t>Expert Systems, e13045. </a:t>
            </a:r>
            <a:r>
              <a:rPr lang="en-US" sz="1500" b="1" dirty="0"/>
              <a:t>https://doi.org/10.1111/exsy.13045</a:t>
            </a:r>
          </a:p>
          <a:p>
            <a:pPr lvl="0"/>
            <a:endParaRPr lang="en-US" sz="1500" b="1" dirty="0"/>
          </a:p>
          <a:p>
            <a:pPr lvl="0"/>
            <a:r>
              <a:rPr lang="en-US" sz="1500" b="1" dirty="0"/>
              <a:t>8)Patel, R., &amp; Gupta, S. (2024). Mubarak, A. (2025). </a:t>
            </a:r>
            <a:r>
              <a:rPr lang="en-US" sz="1500" dirty="0"/>
              <a:t>Neural Networks in Financial Engineering: Forecasting Using RNN, LSTM and  Hybrid Models in Varying Volatilities. International Journal of Intelligent Engineering Systems, 18(7). Finance Research Letters, 60, 104876. </a:t>
            </a:r>
            <a:r>
              <a:rPr lang="en-US" sz="1500" b="1" dirty="0"/>
              <a:t>https://doi.org/10.1016/j.frl.2023.104876</a:t>
            </a:r>
          </a:p>
          <a:p>
            <a:pPr lvl="0"/>
            <a:endParaRPr lang="en-US" sz="1500" b="1" dirty="0"/>
          </a:p>
          <a:p>
            <a:pPr lvl="0"/>
            <a:r>
              <a:rPr lang="en-US" sz="1500" b="1" dirty="0"/>
              <a:t>9)Liu, Y., et al. (2024). Ma, S., Zhang, T., Zhao, Y. B., Kang, Y., Bai, P. (2023). </a:t>
            </a:r>
            <a:r>
              <a:rPr lang="en-US" sz="1500" dirty="0"/>
              <a:t>TCLN: A Transformer-based Conv-LSTM network for multivariate time series forecasting. Applied Intelligence, 53(23), 28401- 28417. Neural Networks, 170, 210–222. </a:t>
            </a:r>
            <a:r>
              <a:rPr lang="en-US" sz="1500" b="1" dirty="0"/>
              <a:t>https://doi.org/10.1016/j.neunet.2023.11.012</a:t>
            </a:r>
          </a:p>
          <a:p>
            <a:pPr lvl="0"/>
            <a:endParaRPr lang="en-US" sz="1500" b="1" dirty="0"/>
          </a:p>
          <a:p>
            <a:pPr lvl="0"/>
            <a:r>
              <a:rPr lang="en-US" sz="1500" b="1" dirty="0"/>
              <a:t>10)Wu, Y., et al. (2023). Song, H., Choi, H. (2023). </a:t>
            </a:r>
            <a:r>
              <a:rPr lang="en-US" sz="1500" dirty="0"/>
              <a:t>Forecasting stock market indices using the recurrent neural network-based hybrid models: CNN-LSTM, GRU-CNN, and ensemble models. Applied Sciences, 13(7), 4644. IEEE Transactions on Computational Social Systems, 10(4),</a:t>
            </a:r>
          </a:p>
          <a:p>
            <a:pPr lvl="0"/>
            <a:r>
              <a:rPr lang="en-US" sz="1500" dirty="0"/>
              <a:t>1892–1903. </a:t>
            </a:r>
            <a:r>
              <a:rPr lang="en-US" sz="1500" b="1" dirty="0"/>
              <a:t>https://doi.org/10.1109/TCSS.2022.3224567</a:t>
            </a:r>
            <a:endParaRPr lang="en-IN" sz="1500" b="1" dirty="0"/>
          </a:p>
        </p:txBody>
      </p:sp>
    </p:spTree>
    <p:extLst>
      <p:ext uri="{BB962C8B-B14F-4D97-AF65-F5344CB8AC3E}">
        <p14:creationId xmlns:p14="http://schemas.microsoft.com/office/powerpoint/2010/main" val="1832511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27981"/>
            <a:ext cx="8229600" cy="639762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</a:rP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20887"/>
            <a:ext cx="8229600" cy="762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THANK YOU</a:t>
            </a:r>
            <a:endParaRPr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4A68D-670E-7BA5-4386-5B7A5B48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70EB3167-A72E-E7A0-2BF2-F6BB9CD751B2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00" y="45991"/>
            <a:ext cx="3873084" cy="7517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3181</Words>
  <Application>Microsoft Office PowerPoint</Application>
  <PresentationFormat>On-screen Show (4:3)</PresentationFormat>
  <Paragraphs>270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Black</vt:lpstr>
      <vt:lpstr>Calibri</vt:lpstr>
      <vt:lpstr>Calibri (Body)</vt:lpstr>
      <vt:lpstr>Cambria</vt:lpstr>
      <vt:lpstr>Office Theme</vt:lpstr>
      <vt:lpstr>STOCK PRICE PREDICTION APPLICATION </vt:lpstr>
      <vt:lpstr>Introduction</vt:lpstr>
      <vt:lpstr>Introduction</vt:lpstr>
      <vt:lpstr>Introduction</vt:lpstr>
      <vt:lpstr>Literature Review</vt:lpstr>
      <vt:lpstr>Literature Review</vt:lpstr>
      <vt:lpstr>Literature Review</vt:lpstr>
      <vt:lpstr>Research Objectives</vt:lpstr>
      <vt:lpstr>Methodology</vt:lpstr>
      <vt:lpstr>Methodology</vt:lpstr>
      <vt:lpstr>Implementation Details</vt:lpstr>
      <vt:lpstr>Implementation Details</vt:lpstr>
      <vt:lpstr>Results and Discussion</vt:lpstr>
      <vt:lpstr>Results and Discussion</vt:lpstr>
      <vt:lpstr>Conclusion &amp; Future Work</vt:lpstr>
      <vt:lpstr>Conclusion &amp; Future Work</vt:lpstr>
      <vt:lpstr>Conclusion &amp; Future Work</vt:lpstr>
      <vt:lpstr>References</vt:lpstr>
      <vt:lpstr>References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</dc:title>
  <dc:subject/>
  <dc:creator>swathi rekha</dc:creator>
  <cp:keywords/>
  <dc:description>generated using python-pptx</dc:description>
  <cp:lastModifiedBy>ssakthidharan2005@outlook.com</cp:lastModifiedBy>
  <cp:revision>20</cp:revision>
  <dcterms:created xsi:type="dcterms:W3CDTF">2013-01-27T09:14:16Z</dcterms:created>
  <dcterms:modified xsi:type="dcterms:W3CDTF">2026-02-05T03:46:22Z</dcterms:modified>
  <cp:category/>
</cp:coreProperties>
</file>